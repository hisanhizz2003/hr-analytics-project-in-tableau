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60" r:id="rId7"/>
    <p:sldId id="261" r:id="rId8"/>
    <p:sldId id="262" r:id="rId9"/>
    <p:sldId id="269" r:id="rId10"/>
    <p:sldId id="263" r:id="rId11"/>
    <p:sldId id="265" r:id="rId12"/>
    <p:sldId id="270" r:id="rId13"/>
    <p:sldId id="267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8335E5"/>
    <a:srgbClr val="6B8DE1"/>
    <a:srgbClr val="6C92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6DC6D-78AC-43B0-BB83-09B00749FE74}" v="53" dt="2025-12-22T06:20:26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6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814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7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7E4B-9BD5-3003-1BE4-21C22988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EF67C-929D-E99D-580D-3E79FDBB2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E9C4C-D7FD-1218-F976-D518E661A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CFD43-1CCD-476A-8098-6E6225A9D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84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74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85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7449-57C1-C1DB-88E2-4C079E30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8EDFE-AE72-597E-F282-4D645B4E4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FF89A-C949-6C4F-B1EE-00411F139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08610-1606-B036-B98F-D02D749FC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51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38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1B473-923B-382A-7057-4BE9C30F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A6E33-3A46-6849-D764-584225565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DE7F9-F931-C9CB-42AB-E3C562575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EA958-3823-B303-DCFE-346F47BFD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49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308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13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911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395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356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64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97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3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5365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8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984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8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grpSp>
        <p:nvGrpSpPr>
          <p:cNvPr id="56" name="Group 55" descr="This image is an icon of three connected human figures. ">
            <a:extLst>
              <a:ext uri="{FF2B5EF4-FFF2-40B4-BE49-F238E27FC236}">
                <a16:creationId xmlns:a16="http://schemas.microsoft.com/office/drawing/2014/main" id="{E56C5C06-BE0B-4D3E-8B77-1A2F0B930590}"/>
              </a:ext>
            </a:extLst>
          </p:cNvPr>
          <p:cNvGrpSpPr/>
          <p:nvPr/>
        </p:nvGrpSpPr>
        <p:grpSpPr>
          <a:xfrm>
            <a:off x="3188104" y="1130552"/>
            <a:ext cx="1189644" cy="913153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57" name="Freeform 35">
              <a:extLst>
                <a:ext uri="{FF2B5EF4-FFF2-40B4-BE49-F238E27FC236}">
                  <a16:creationId xmlns:a16="http://schemas.microsoft.com/office/drawing/2014/main" id="{D07CC084-C9D4-47CF-9EAD-4A7517F97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58" name="Freeform 36">
              <a:extLst>
                <a:ext uri="{FF2B5EF4-FFF2-40B4-BE49-F238E27FC236}">
                  <a16:creationId xmlns:a16="http://schemas.microsoft.com/office/drawing/2014/main" id="{CCAAF87D-704F-4EAD-856F-6E1E38EF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59" name="Freeform 37">
              <a:extLst>
                <a:ext uri="{FF2B5EF4-FFF2-40B4-BE49-F238E27FC236}">
                  <a16:creationId xmlns:a16="http://schemas.microsoft.com/office/drawing/2014/main" id="{1CD5CE15-C404-4DA1-AC79-7FCD7E387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60" name="Freeform 38">
              <a:extLst>
                <a:ext uri="{FF2B5EF4-FFF2-40B4-BE49-F238E27FC236}">
                  <a16:creationId xmlns:a16="http://schemas.microsoft.com/office/drawing/2014/main" id="{B3EDC5DA-BD5A-4D94-9EF8-995AD67F8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F9DCB288-7675-41B6-9E88-9068BFDC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9ABAA1E3-5A43-4715-8E36-58674814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EA6EC370-AE96-4357-86E0-93B6C20D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5368DFC5-02C5-4946-A452-2652C5D14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8580222D-9DD6-41E9-912C-179A6E105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177282" y="1694392"/>
            <a:ext cx="4310742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HUMAN RESOURCES ANALYTICS DASHBOARD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30E6D9-574D-D782-A976-C733F2344698}"/>
              </a:ext>
            </a:extLst>
          </p:cNvPr>
          <p:cNvSpPr txBox="1"/>
          <p:nvPr/>
        </p:nvSpPr>
        <p:spPr>
          <a:xfrm>
            <a:off x="4029496" y="4954456"/>
            <a:ext cx="2855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SUBMITTED BY HISAN-K</a:t>
            </a:r>
            <a:endParaRPr lang="en-IN" sz="2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3104651" y="128149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3228" y="1881815"/>
            <a:ext cx="4793131" cy="3790334"/>
            <a:chOff x="496452" y="1692049"/>
            <a:chExt cx="4223564" cy="379033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26201" y="1692049"/>
              <a:ext cx="4193815" cy="287940"/>
              <a:chOff x="526201" y="1851126"/>
              <a:chExt cx="4193815" cy="28794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26201" y="1906770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83821" y="1851126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endPara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26201" y="2775416"/>
              <a:ext cx="4193815" cy="312749"/>
              <a:chOff x="526201" y="2717554"/>
              <a:chExt cx="4193815" cy="312749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26201" y="2798007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83821" y="2717554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 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496452" y="3805903"/>
              <a:ext cx="4223564" cy="299101"/>
              <a:chOff x="496452" y="3545027"/>
              <a:chExt cx="4223564" cy="29910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496452" y="3545027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83821" y="3597907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endPara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9D452F-25F9-4A2F-84BD-9A44714884C6}"/>
                </a:ext>
              </a:extLst>
            </p:cNvPr>
            <p:cNvGrpSpPr/>
            <p:nvPr/>
          </p:nvGrpSpPr>
          <p:grpSpPr>
            <a:xfrm>
              <a:off x="518433" y="4989940"/>
              <a:ext cx="4114476" cy="492443"/>
              <a:chOff x="518433" y="4526051"/>
              <a:chExt cx="4114476" cy="492443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4E3D015-D1E6-40C0-B820-5D2B0144652D}"/>
                  </a:ext>
                </a:extLst>
              </p:cNvPr>
              <p:cNvSpPr/>
              <p:nvPr/>
            </p:nvSpPr>
            <p:spPr>
              <a:xfrm>
                <a:off x="518433" y="4608333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7696D-0387-46E9-A420-AD2392161D95}"/>
                  </a:ext>
                </a:extLst>
              </p:cNvPr>
              <p:cNvSpPr/>
              <p:nvPr/>
            </p:nvSpPr>
            <p:spPr>
              <a:xfrm>
                <a:off x="1096714" y="4526051"/>
                <a:ext cx="3536195" cy="49244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dashboard provides interactive insights to support HR decision-making</a:t>
                </a:r>
                <a:endParaRPr lang="en-US" sz="16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" name="Group 61" descr="This image is a woman's hand writing on a piece of paper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5159829" y="-508000"/>
            <a:ext cx="8061907" cy="8346238"/>
            <a:chOff x="4597682" y="-439156"/>
            <a:chExt cx="7594320" cy="7252450"/>
          </a:xfrm>
        </p:grpSpPr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35567-2907-2AD0-F26D-A339DCAE4332}"/>
              </a:ext>
            </a:extLst>
          </p:cNvPr>
          <p:cNvSpPr txBox="1"/>
          <p:nvPr/>
        </p:nvSpPr>
        <p:spPr>
          <a:xfrm>
            <a:off x="1464538" y="1861806"/>
            <a:ext cx="4843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Human Resource Analytics helps organizations understand employee behavior using data.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6621E77-E6CC-96EF-6D15-E7817271E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538" y="2934953"/>
            <a:ext cx="47192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attrition is a major challenge affecting productivity and cost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F214E-A3A4-513B-77A6-0DBFA493E61F}"/>
              </a:ext>
            </a:extLst>
          </p:cNvPr>
          <p:cNvSpPr txBox="1"/>
          <p:nvPr/>
        </p:nvSpPr>
        <p:spPr>
          <a:xfrm>
            <a:off x="1409144" y="3918830"/>
            <a:ext cx="4481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analyzes HR data to identify attrition trends, employee distribution, satisfaction levels, and income patterns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3DF722C9-361F-401E-AD34-54132A8436B3}"/>
              </a:ext>
            </a:extLst>
          </p:cNvPr>
          <p:cNvSpPr txBox="1"/>
          <p:nvPr/>
        </p:nvSpPr>
        <p:spPr>
          <a:xfrm>
            <a:off x="3842068" y="-46752"/>
            <a:ext cx="428402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latin typeface="Amasis MT Pro Black" panose="02040A04050005020304" pitchFamily="18" charset="0"/>
                <a:cs typeface="Segoe UI" panose="020B0502040204020203" pitchFamily="34" charset="0"/>
              </a:rPr>
              <a:t>OBJECTIVES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9CDDA2C-6FA4-497B-A320-3ED782990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8777" y="2164807"/>
            <a:ext cx="2283132" cy="1655153"/>
            <a:chOff x="1427303" y="2203556"/>
            <a:chExt cx="1594605" cy="2050635"/>
          </a:xfrm>
        </p:grpSpPr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246A1BD9-59BD-467C-9A84-D6A5E4382773}"/>
                </a:ext>
              </a:extLst>
            </p:cNvPr>
            <p:cNvSpPr txBox="1"/>
            <p:nvPr/>
          </p:nvSpPr>
          <p:spPr>
            <a:xfrm>
              <a:off x="1427303" y="2203556"/>
              <a:ext cx="1594605" cy="6101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EMPLOYEE ATTRITION RATE:</a:t>
              </a: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594EDD4C-FB3C-4D67-A0E0-448BE5307678}"/>
                </a:ext>
              </a:extLst>
            </p:cNvPr>
            <p:cNvSpPr/>
            <p:nvPr/>
          </p:nvSpPr>
          <p:spPr>
            <a:xfrm>
              <a:off x="1427304" y="3033978"/>
              <a:ext cx="1594604" cy="122021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1600" dirty="0"/>
                <a:t>To analyze employee attrition rate across departments, age groups, and gender</a:t>
              </a: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 </a:t>
              </a:r>
            </a:p>
          </p:txBody>
        </p:sp>
      </p:grpSp>
      <p:grpSp>
        <p:nvGrpSpPr>
          <p:cNvPr id="41" name="Group 40" descr="This image is an icon of three people interacting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489325" y="2143125"/>
            <a:ext cx="1397000" cy="1397000"/>
            <a:chOff x="3438525" y="2143125"/>
            <a:chExt cx="1397000" cy="1397000"/>
          </a:xfrm>
        </p:grpSpPr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8" name="Freeform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9" name="Oval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0" name="Freeform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1" name="Freeform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2" name="Freeform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3" name="Oval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4" name="Freeform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5" name="Freeform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6" name="Freeform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7" name="Oval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8" name="Freeform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9" name="Li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0" name="Li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39" name="Group 38" descr="This image is an icon of three people interacting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305675" y="2143125"/>
            <a:ext cx="1397000" cy="1397000"/>
            <a:chOff x="7356475" y="2143125"/>
            <a:chExt cx="1397000" cy="1397000"/>
          </a:xfrm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</p:grpSpPr>
          <p:sp>
            <p:nvSpPr>
              <p:cNvPr id="214" name="Freeform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5" name="Freeform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6" name="Oval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7" name="Freeform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8" name="Freeform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9" name="Freeform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0" name="Oval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1" name="Freeform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2" name="Freeform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3" name="Freeform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4" name="Oval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5" name="Freeform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6" name="Li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7" name="Li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8F9A76E-D468-407E-9575-CEACF445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65394" y="1395413"/>
            <a:ext cx="1598853" cy="1815307"/>
            <a:chOff x="9695998" y="4157408"/>
            <a:chExt cx="1734002" cy="1815307"/>
          </a:xfrm>
        </p:grpSpPr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3380BC47-47FB-44F3-9E0B-80B83E426031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ACTIONABLE INSIGHTS:</a:t>
              </a: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DE6A47E-C4CC-416D-9C28-3273394521C8}"/>
                </a:ext>
              </a:extLst>
            </p:cNvPr>
            <p:cNvSpPr/>
            <p:nvPr/>
          </p:nvSpPr>
          <p:spPr>
            <a:xfrm>
              <a:off x="9695998" y="4987830"/>
              <a:ext cx="1729394" cy="9848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600" dirty="0"/>
                <a:t>To provide actionable insights for HR strategy improvement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6ADA542D-B2D5-4962-8376-A598260BA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0654" y="4157408"/>
            <a:ext cx="1632666" cy="1629030"/>
            <a:chOff x="9700605" y="4157408"/>
            <a:chExt cx="1770673" cy="1629030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6571B2F-0463-48D1-8CC7-EA6BC8F3FB67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HIGH ATTRITION RISK: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2BA0C149-973C-4722-BF48-FF9DE9B8BC55}"/>
                </a:ext>
              </a:extLst>
            </p:cNvPr>
            <p:cNvSpPr/>
            <p:nvPr/>
          </p:nvSpPr>
          <p:spPr>
            <a:xfrm>
              <a:off x="9741884" y="5047774"/>
              <a:ext cx="1729394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1600" dirty="0"/>
                <a:t>To identify departments with high attrition risk</a:t>
              </a: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 </a:t>
              </a:r>
            </a:p>
          </p:txBody>
        </p:sp>
      </p:grpSp>
      <p:grpSp>
        <p:nvGrpSpPr>
          <p:cNvPr id="42" name="Group 41" descr="This image is an icon of three people and a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2741612" y="4162425"/>
            <a:ext cx="1271588" cy="1273175"/>
            <a:chOff x="2690812" y="4162425"/>
            <a:chExt cx="1271588" cy="1273175"/>
          </a:xfrm>
        </p:grpSpPr>
        <p:sp>
          <p:nvSpPr>
            <p:cNvPr id="32" name="Oval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reeform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3" name="Freeform 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4" name="Freeform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5" name="Li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Li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7" name="Li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8" name="Oval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9" name="Oval 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0" name="Oval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1" name="Freeform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27" name="Group 26" descr="This image is of a man seen from the back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Group 37" descr="This image is an icon of three people and a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8229600" y="4182253"/>
            <a:ext cx="1271588" cy="1273175"/>
            <a:chOff x="8229600" y="4162425"/>
            <a:chExt cx="1271588" cy="1273175"/>
          </a:xfrm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reeform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4" name="Freeform 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5" name="Freeform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6" name="Li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Li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Li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Oval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0" name="Oval 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1" name="Oval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2" name="Freeform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4F8879-D01A-46C0-82F4-C2574F518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06741" y="3707733"/>
            <a:ext cx="1594605" cy="1755999"/>
            <a:chOff x="9695997" y="4488396"/>
            <a:chExt cx="1729395" cy="1137323"/>
          </a:xfrm>
        </p:grpSpPr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2109C55-9EBC-4778-80D4-D55D22307915}"/>
                </a:ext>
              </a:extLst>
            </p:cNvPr>
            <p:cNvSpPr txBox="1"/>
            <p:nvPr/>
          </p:nvSpPr>
          <p:spPr>
            <a:xfrm>
              <a:off x="9695997" y="4488396"/>
              <a:ext cx="1729395" cy="378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MONTHLY INCOME</a:t>
              </a:r>
              <a:r>
                <a:rPr lang="en-US" sz="20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779BDC05-BA31-44EF-B695-331F1F3CEBCA}"/>
                </a:ext>
              </a:extLst>
            </p:cNvPr>
            <p:cNvSpPr/>
            <p:nvPr/>
          </p:nvSpPr>
          <p:spPr>
            <a:xfrm>
              <a:off x="9695998" y="4987830"/>
              <a:ext cx="1729394" cy="63788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600" dirty="0"/>
                <a:t>To understand monthly income distribution by job role.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5850468"/>
            <a:ext cx="359734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HUMAN RESOURCES 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73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5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638C06D-F644-4B33-8858-D880F038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3900" y="968477"/>
            <a:ext cx="5372100" cy="4921047"/>
            <a:chOff x="723900" y="968477"/>
            <a:chExt cx="5372100" cy="4921047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9F720D8-8BAF-4A0C-B2DC-8A1F1E0B2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" y="2968796"/>
              <a:ext cx="2319325" cy="2920728"/>
            </a:xfrm>
            <a:custGeom>
              <a:avLst/>
              <a:gdLst>
                <a:gd name="T0" fmla="*/ 378 w 709"/>
                <a:gd name="T1" fmla="*/ 376 h 893"/>
                <a:gd name="T2" fmla="*/ 198 w 709"/>
                <a:gd name="T3" fmla="*/ 0 h 893"/>
                <a:gd name="T4" fmla="*/ 0 w 709"/>
                <a:gd name="T5" fmla="*/ 397 h 893"/>
                <a:gd name="T6" fmla="*/ 497 w 709"/>
                <a:gd name="T7" fmla="*/ 893 h 893"/>
                <a:gd name="T8" fmla="*/ 709 w 709"/>
                <a:gd name="T9" fmla="*/ 845 h 893"/>
                <a:gd name="T10" fmla="*/ 526 w 709"/>
                <a:gd name="T11" fmla="*/ 485 h 893"/>
                <a:gd name="T12" fmla="*/ 378 w 709"/>
                <a:gd name="T13" fmla="*/ 376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893">
                  <a:moveTo>
                    <a:pt x="378" y="376"/>
                  </a:moveTo>
                  <a:cubicBezTo>
                    <a:pt x="276" y="273"/>
                    <a:pt x="213" y="142"/>
                    <a:pt x="198" y="0"/>
                  </a:cubicBezTo>
                  <a:cubicBezTo>
                    <a:pt x="78" y="90"/>
                    <a:pt x="0" y="234"/>
                    <a:pt x="0" y="397"/>
                  </a:cubicBezTo>
                  <a:cubicBezTo>
                    <a:pt x="0" y="671"/>
                    <a:pt x="222" y="893"/>
                    <a:pt x="497" y="893"/>
                  </a:cubicBezTo>
                  <a:cubicBezTo>
                    <a:pt x="573" y="893"/>
                    <a:pt x="644" y="876"/>
                    <a:pt x="709" y="845"/>
                  </a:cubicBezTo>
                  <a:cubicBezTo>
                    <a:pt x="609" y="748"/>
                    <a:pt x="545" y="622"/>
                    <a:pt x="526" y="485"/>
                  </a:cubicBezTo>
                  <a:cubicBezTo>
                    <a:pt x="472" y="456"/>
                    <a:pt x="422" y="420"/>
                    <a:pt x="378" y="376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92000">
                  <a:srgbClr val="6672E4"/>
                </a:gs>
                <a:gs pos="28000">
                  <a:srgbClr val="882BE5"/>
                </a:gs>
              </a:gsLst>
              <a:lin ang="90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B8E7BA8-3BC1-4755-AE40-0C84D9216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107" y="968477"/>
              <a:ext cx="3107685" cy="1546653"/>
            </a:xfrm>
            <a:custGeom>
              <a:avLst/>
              <a:gdLst>
                <a:gd name="T0" fmla="*/ 475 w 950"/>
                <a:gd name="T1" fmla="*/ 473 h 473"/>
                <a:gd name="T2" fmla="*/ 800 w 950"/>
                <a:gd name="T3" fmla="*/ 382 h 473"/>
                <a:gd name="T4" fmla="*/ 950 w 950"/>
                <a:gd name="T5" fmla="*/ 401 h 473"/>
                <a:gd name="T6" fmla="*/ 826 w 950"/>
                <a:gd name="T7" fmla="*/ 194 h 473"/>
                <a:gd name="T8" fmla="*/ 124 w 950"/>
                <a:gd name="T9" fmla="*/ 194 h 473"/>
                <a:gd name="T10" fmla="*/ 0 w 950"/>
                <a:gd name="T11" fmla="*/ 401 h 473"/>
                <a:gd name="T12" fmla="*/ 151 w 950"/>
                <a:gd name="T13" fmla="*/ 382 h 473"/>
                <a:gd name="T14" fmla="*/ 475 w 950"/>
                <a:gd name="T1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0" h="473">
                  <a:moveTo>
                    <a:pt x="475" y="473"/>
                  </a:moveTo>
                  <a:cubicBezTo>
                    <a:pt x="572" y="414"/>
                    <a:pt x="685" y="382"/>
                    <a:pt x="800" y="382"/>
                  </a:cubicBezTo>
                  <a:cubicBezTo>
                    <a:pt x="851" y="382"/>
                    <a:pt x="901" y="389"/>
                    <a:pt x="950" y="401"/>
                  </a:cubicBezTo>
                  <a:cubicBezTo>
                    <a:pt x="927" y="325"/>
                    <a:pt x="886" y="253"/>
                    <a:pt x="826" y="194"/>
                  </a:cubicBezTo>
                  <a:cubicBezTo>
                    <a:pt x="632" y="0"/>
                    <a:pt x="318" y="0"/>
                    <a:pt x="124" y="194"/>
                  </a:cubicBezTo>
                  <a:cubicBezTo>
                    <a:pt x="64" y="253"/>
                    <a:pt x="23" y="325"/>
                    <a:pt x="0" y="401"/>
                  </a:cubicBezTo>
                  <a:cubicBezTo>
                    <a:pt x="49" y="389"/>
                    <a:pt x="99" y="382"/>
                    <a:pt x="151" y="382"/>
                  </a:cubicBezTo>
                  <a:cubicBezTo>
                    <a:pt x="266" y="382"/>
                    <a:pt x="378" y="414"/>
                    <a:pt x="475" y="473"/>
                  </a:cubicBezTo>
                  <a:close/>
                </a:path>
              </a:pathLst>
            </a:custGeom>
            <a:gradFill>
              <a:gsLst>
                <a:gs pos="3000">
                  <a:srgbClr val="7CEFD8"/>
                </a:gs>
                <a:gs pos="13000">
                  <a:srgbClr val="6672E4"/>
                </a:gs>
                <a:gs pos="99000">
                  <a:srgbClr val="882BE5"/>
                </a:gs>
              </a:gsLst>
              <a:lin ang="60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3B6EAAE-1C2D-46EB-A473-3B6078DC2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75" y="2968796"/>
              <a:ext cx="2319325" cy="2920728"/>
            </a:xfrm>
            <a:custGeom>
              <a:avLst/>
              <a:gdLst>
                <a:gd name="T0" fmla="*/ 511 w 709"/>
                <a:gd name="T1" fmla="*/ 0 h 893"/>
                <a:gd name="T2" fmla="*/ 331 w 709"/>
                <a:gd name="T3" fmla="*/ 376 h 893"/>
                <a:gd name="T4" fmla="*/ 183 w 709"/>
                <a:gd name="T5" fmla="*/ 485 h 893"/>
                <a:gd name="T6" fmla="*/ 0 w 709"/>
                <a:gd name="T7" fmla="*/ 845 h 893"/>
                <a:gd name="T8" fmla="*/ 213 w 709"/>
                <a:gd name="T9" fmla="*/ 893 h 893"/>
                <a:gd name="T10" fmla="*/ 709 w 709"/>
                <a:gd name="T11" fmla="*/ 397 h 893"/>
                <a:gd name="T12" fmla="*/ 511 w 709"/>
                <a:gd name="T13" fmla="*/ 0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893">
                  <a:moveTo>
                    <a:pt x="511" y="0"/>
                  </a:moveTo>
                  <a:cubicBezTo>
                    <a:pt x="496" y="142"/>
                    <a:pt x="433" y="273"/>
                    <a:pt x="331" y="376"/>
                  </a:cubicBezTo>
                  <a:cubicBezTo>
                    <a:pt x="287" y="420"/>
                    <a:pt x="237" y="456"/>
                    <a:pt x="183" y="485"/>
                  </a:cubicBezTo>
                  <a:cubicBezTo>
                    <a:pt x="164" y="622"/>
                    <a:pt x="100" y="748"/>
                    <a:pt x="0" y="845"/>
                  </a:cubicBezTo>
                  <a:cubicBezTo>
                    <a:pt x="65" y="876"/>
                    <a:pt x="137" y="893"/>
                    <a:pt x="213" y="893"/>
                  </a:cubicBezTo>
                  <a:cubicBezTo>
                    <a:pt x="487" y="893"/>
                    <a:pt x="709" y="671"/>
                    <a:pt x="709" y="397"/>
                  </a:cubicBezTo>
                  <a:cubicBezTo>
                    <a:pt x="709" y="234"/>
                    <a:pt x="631" y="90"/>
                    <a:pt x="511" y="0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92000">
                  <a:srgbClr val="6672E4"/>
                </a:gs>
                <a:gs pos="28000">
                  <a:srgbClr val="882BE5"/>
                </a:gs>
              </a:gsLst>
              <a:lin ang="1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8" descr="This image is an icon of three people interacting. ">
              <a:extLst>
                <a:ext uri="{FF2B5EF4-FFF2-40B4-BE49-F238E27FC236}">
                  <a16:creationId xmlns:a16="http://schemas.microsoft.com/office/drawing/2014/main" id="{7BF3ACC0-B381-45FC-900F-55F46E5E7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022" y="4735092"/>
              <a:ext cx="984471" cy="758291"/>
            </a:xfrm>
            <a:custGeom>
              <a:avLst/>
              <a:gdLst>
                <a:gd name="T0" fmla="*/ 0 w 301"/>
                <a:gd name="T1" fmla="*/ 0 h 232"/>
                <a:gd name="T2" fmla="*/ 150 w 301"/>
                <a:gd name="T3" fmla="*/ 232 h 232"/>
                <a:gd name="T4" fmla="*/ 301 w 301"/>
                <a:gd name="T5" fmla="*/ 0 h 232"/>
                <a:gd name="T6" fmla="*/ 150 w 301"/>
                <a:gd name="T7" fmla="*/ 19 h 232"/>
                <a:gd name="T8" fmla="*/ 0 w 301"/>
                <a:gd name="T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1" h="232">
                  <a:moveTo>
                    <a:pt x="0" y="0"/>
                  </a:moveTo>
                  <a:cubicBezTo>
                    <a:pt x="27" y="92"/>
                    <a:pt x="80" y="172"/>
                    <a:pt x="150" y="232"/>
                  </a:cubicBezTo>
                  <a:cubicBezTo>
                    <a:pt x="220" y="172"/>
                    <a:pt x="273" y="92"/>
                    <a:pt x="301" y="0"/>
                  </a:cubicBezTo>
                  <a:cubicBezTo>
                    <a:pt x="252" y="13"/>
                    <a:pt x="201" y="19"/>
                    <a:pt x="150" y="19"/>
                  </a:cubicBezTo>
                  <a:cubicBezTo>
                    <a:pt x="99" y="19"/>
                    <a:pt x="49" y="13"/>
                    <a:pt x="0" y="0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42000">
                  <a:srgbClr val="6672E4"/>
                </a:gs>
                <a:gs pos="0">
                  <a:srgbClr val="882BE5"/>
                </a:gs>
              </a:gsLst>
              <a:lin ang="5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 descr="This image is an icon of three people and a symbol that represents connection to the internet.">
              <a:extLst>
                <a:ext uri="{FF2B5EF4-FFF2-40B4-BE49-F238E27FC236}">
                  <a16:creationId xmlns:a16="http://schemas.microsoft.com/office/drawing/2014/main" id="{9E41B0EC-DA27-4BF7-891C-FC6D7EF3C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75" y="2641947"/>
              <a:ext cx="1260332" cy="1406761"/>
            </a:xfrm>
            <a:custGeom>
              <a:avLst/>
              <a:gdLst>
                <a:gd name="T0" fmla="*/ 239 w 385"/>
                <a:gd name="T1" fmla="*/ 384 h 430"/>
                <a:gd name="T2" fmla="*/ 385 w 385"/>
                <a:gd name="T3" fmla="*/ 31 h 430"/>
                <a:gd name="T4" fmla="*/ 213 w 385"/>
                <a:gd name="T5" fmla="*/ 0 h 430"/>
                <a:gd name="T6" fmla="*/ 0 w 385"/>
                <a:gd name="T7" fmla="*/ 48 h 430"/>
                <a:gd name="T8" fmla="*/ 186 w 385"/>
                <a:gd name="T9" fmla="*/ 430 h 430"/>
                <a:gd name="T10" fmla="*/ 239 w 385"/>
                <a:gd name="T11" fmla="*/ 384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430">
                  <a:moveTo>
                    <a:pt x="239" y="384"/>
                  </a:moveTo>
                  <a:cubicBezTo>
                    <a:pt x="337" y="286"/>
                    <a:pt x="385" y="159"/>
                    <a:pt x="385" y="31"/>
                  </a:cubicBezTo>
                  <a:cubicBezTo>
                    <a:pt x="331" y="11"/>
                    <a:pt x="273" y="0"/>
                    <a:pt x="213" y="0"/>
                  </a:cubicBezTo>
                  <a:cubicBezTo>
                    <a:pt x="137" y="0"/>
                    <a:pt x="65" y="17"/>
                    <a:pt x="0" y="48"/>
                  </a:cubicBezTo>
                  <a:cubicBezTo>
                    <a:pt x="105" y="150"/>
                    <a:pt x="171" y="285"/>
                    <a:pt x="186" y="430"/>
                  </a:cubicBezTo>
                  <a:cubicBezTo>
                    <a:pt x="205" y="416"/>
                    <a:pt x="222" y="400"/>
                    <a:pt x="239" y="384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 descr="This image is an icon of three people and a globe.">
              <a:extLst>
                <a:ext uri="{FF2B5EF4-FFF2-40B4-BE49-F238E27FC236}">
                  <a16:creationId xmlns:a16="http://schemas.microsoft.com/office/drawing/2014/main" id="{BDEE62C1-79C7-4BD6-99A1-2466D37A5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748" y="2619109"/>
              <a:ext cx="1259024" cy="1402839"/>
            </a:xfrm>
            <a:custGeom>
              <a:avLst/>
              <a:gdLst>
                <a:gd name="T0" fmla="*/ 173 w 385"/>
                <a:gd name="T1" fmla="*/ 0 h 429"/>
                <a:gd name="T2" fmla="*/ 1 w 385"/>
                <a:gd name="T3" fmla="*/ 31 h 429"/>
                <a:gd name="T4" fmla="*/ 146 w 385"/>
                <a:gd name="T5" fmla="*/ 384 h 429"/>
                <a:gd name="T6" fmla="*/ 199 w 385"/>
                <a:gd name="T7" fmla="*/ 429 h 429"/>
                <a:gd name="T8" fmla="*/ 385 w 385"/>
                <a:gd name="T9" fmla="*/ 48 h 429"/>
                <a:gd name="T10" fmla="*/ 173 w 385"/>
                <a:gd name="T11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429">
                  <a:moveTo>
                    <a:pt x="173" y="0"/>
                  </a:moveTo>
                  <a:cubicBezTo>
                    <a:pt x="112" y="0"/>
                    <a:pt x="54" y="11"/>
                    <a:pt x="1" y="31"/>
                  </a:cubicBezTo>
                  <a:cubicBezTo>
                    <a:pt x="0" y="159"/>
                    <a:pt x="49" y="286"/>
                    <a:pt x="146" y="384"/>
                  </a:cubicBezTo>
                  <a:cubicBezTo>
                    <a:pt x="163" y="400"/>
                    <a:pt x="181" y="416"/>
                    <a:pt x="199" y="429"/>
                  </a:cubicBezTo>
                  <a:cubicBezTo>
                    <a:pt x="215" y="285"/>
                    <a:pt x="280" y="150"/>
                    <a:pt x="385" y="48"/>
                  </a:cubicBezTo>
                  <a:cubicBezTo>
                    <a:pt x="320" y="17"/>
                    <a:pt x="249" y="0"/>
                    <a:pt x="173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1" descr="This image is an icon of four people interacting. ">
              <a:extLst>
                <a:ext uri="{FF2B5EF4-FFF2-40B4-BE49-F238E27FC236}">
                  <a16:creationId xmlns:a16="http://schemas.microsoft.com/office/drawing/2014/main" id="{C8436027-C518-481B-BDB7-763A96442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115" y="3038089"/>
              <a:ext cx="1125670" cy="1333546"/>
            </a:xfrm>
            <a:custGeom>
              <a:avLst/>
              <a:gdLst>
                <a:gd name="T0" fmla="*/ 344 w 344"/>
                <a:gd name="T1" fmla="*/ 376 h 408"/>
                <a:gd name="T2" fmla="*/ 344 w 344"/>
                <a:gd name="T3" fmla="*/ 377 h 408"/>
                <a:gd name="T4" fmla="*/ 323 w 344"/>
                <a:gd name="T5" fmla="*/ 385 h 408"/>
                <a:gd name="T6" fmla="*/ 282 w 344"/>
                <a:gd name="T7" fmla="*/ 396 h 408"/>
                <a:gd name="T8" fmla="*/ 277 w 344"/>
                <a:gd name="T9" fmla="*/ 397 h 408"/>
                <a:gd name="T10" fmla="*/ 218 w 344"/>
                <a:gd name="T11" fmla="*/ 406 h 408"/>
                <a:gd name="T12" fmla="*/ 217 w 344"/>
                <a:gd name="T13" fmla="*/ 406 h 408"/>
                <a:gd name="T14" fmla="*/ 214 w 344"/>
                <a:gd name="T15" fmla="*/ 406 h 408"/>
                <a:gd name="T16" fmla="*/ 172 w 344"/>
                <a:gd name="T17" fmla="*/ 408 h 408"/>
                <a:gd name="T18" fmla="*/ 128 w 344"/>
                <a:gd name="T19" fmla="*/ 406 h 408"/>
                <a:gd name="T20" fmla="*/ 127 w 344"/>
                <a:gd name="T21" fmla="*/ 406 h 408"/>
                <a:gd name="T22" fmla="*/ 64 w 344"/>
                <a:gd name="T23" fmla="*/ 396 h 408"/>
                <a:gd name="T24" fmla="*/ 62 w 344"/>
                <a:gd name="T25" fmla="*/ 396 h 408"/>
                <a:gd name="T26" fmla="*/ 0 w 344"/>
                <a:gd name="T27" fmla="*/ 377 h 408"/>
                <a:gd name="T28" fmla="*/ 0 w 344"/>
                <a:gd name="T29" fmla="*/ 376 h 408"/>
                <a:gd name="T30" fmla="*/ 4 w 344"/>
                <a:gd name="T31" fmla="*/ 313 h 408"/>
                <a:gd name="T32" fmla="*/ 17 w 344"/>
                <a:gd name="T33" fmla="*/ 249 h 408"/>
                <a:gd name="T34" fmla="*/ 86 w 344"/>
                <a:gd name="T35" fmla="*/ 97 h 408"/>
                <a:gd name="T36" fmla="*/ 126 w 344"/>
                <a:gd name="T37" fmla="*/ 46 h 408"/>
                <a:gd name="T38" fmla="*/ 172 w 344"/>
                <a:gd name="T39" fmla="*/ 0 h 408"/>
                <a:gd name="T40" fmla="*/ 218 w 344"/>
                <a:gd name="T41" fmla="*/ 46 h 408"/>
                <a:gd name="T42" fmla="*/ 258 w 344"/>
                <a:gd name="T43" fmla="*/ 97 h 408"/>
                <a:gd name="T44" fmla="*/ 327 w 344"/>
                <a:gd name="T45" fmla="*/ 249 h 408"/>
                <a:gd name="T46" fmla="*/ 340 w 344"/>
                <a:gd name="T47" fmla="*/ 313 h 408"/>
                <a:gd name="T48" fmla="*/ 344 w 344"/>
                <a:gd name="T49" fmla="*/ 376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4" h="408">
                  <a:moveTo>
                    <a:pt x="344" y="376"/>
                  </a:moveTo>
                  <a:cubicBezTo>
                    <a:pt x="344" y="377"/>
                    <a:pt x="344" y="377"/>
                    <a:pt x="344" y="377"/>
                  </a:cubicBezTo>
                  <a:cubicBezTo>
                    <a:pt x="337" y="380"/>
                    <a:pt x="330" y="382"/>
                    <a:pt x="323" y="385"/>
                  </a:cubicBezTo>
                  <a:cubicBezTo>
                    <a:pt x="309" y="389"/>
                    <a:pt x="296" y="393"/>
                    <a:pt x="282" y="396"/>
                  </a:cubicBezTo>
                  <a:cubicBezTo>
                    <a:pt x="280" y="396"/>
                    <a:pt x="279" y="396"/>
                    <a:pt x="277" y="397"/>
                  </a:cubicBezTo>
                  <a:cubicBezTo>
                    <a:pt x="258" y="401"/>
                    <a:pt x="238" y="404"/>
                    <a:pt x="218" y="406"/>
                  </a:cubicBezTo>
                  <a:cubicBezTo>
                    <a:pt x="217" y="406"/>
                    <a:pt x="217" y="406"/>
                    <a:pt x="217" y="406"/>
                  </a:cubicBezTo>
                  <a:cubicBezTo>
                    <a:pt x="216" y="406"/>
                    <a:pt x="215" y="406"/>
                    <a:pt x="214" y="406"/>
                  </a:cubicBezTo>
                  <a:cubicBezTo>
                    <a:pt x="200" y="407"/>
                    <a:pt x="186" y="408"/>
                    <a:pt x="172" y="408"/>
                  </a:cubicBezTo>
                  <a:cubicBezTo>
                    <a:pt x="158" y="408"/>
                    <a:pt x="143" y="407"/>
                    <a:pt x="128" y="406"/>
                  </a:cubicBezTo>
                  <a:cubicBezTo>
                    <a:pt x="128" y="406"/>
                    <a:pt x="127" y="406"/>
                    <a:pt x="127" y="406"/>
                  </a:cubicBezTo>
                  <a:cubicBezTo>
                    <a:pt x="106" y="404"/>
                    <a:pt x="85" y="401"/>
                    <a:pt x="64" y="396"/>
                  </a:cubicBezTo>
                  <a:cubicBezTo>
                    <a:pt x="63" y="396"/>
                    <a:pt x="63" y="396"/>
                    <a:pt x="62" y="396"/>
                  </a:cubicBezTo>
                  <a:cubicBezTo>
                    <a:pt x="41" y="391"/>
                    <a:pt x="21" y="385"/>
                    <a:pt x="0" y="377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54"/>
                    <a:pt x="2" y="333"/>
                    <a:pt x="4" y="313"/>
                  </a:cubicBezTo>
                  <a:cubicBezTo>
                    <a:pt x="7" y="291"/>
                    <a:pt x="11" y="270"/>
                    <a:pt x="17" y="249"/>
                  </a:cubicBezTo>
                  <a:cubicBezTo>
                    <a:pt x="31" y="194"/>
                    <a:pt x="55" y="143"/>
                    <a:pt x="86" y="97"/>
                  </a:cubicBezTo>
                  <a:cubicBezTo>
                    <a:pt x="98" y="79"/>
                    <a:pt x="112" y="62"/>
                    <a:pt x="126" y="46"/>
                  </a:cubicBezTo>
                  <a:cubicBezTo>
                    <a:pt x="140" y="29"/>
                    <a:pt x="156" y="14"/>
                    <a:pt x="172" y="0"/>
                  </a:cubicBezTo>
                  <a:cubicBezTo>
                    <a:pt x="188" y="14"/>
                    <a:pt x="204" y="29"/>
                    <a:pt x="218" y="46"/>
                  </a:cubicBezTo>
                  <a:cubicBezTo>
                    <a:pt x="233" y="62"/>
                    <a:pt x="246" y="79"/>
                    <a:pt x="258" y="97"/>
                  </a:cubicBezTo>
                  <a:cubicBezTo>
                    <a:pt x="289" y="143"/>
                    <a:pt x="313" y="194"/>
                    <a:pt x="327" y="249"/>
                  </a:cubicBezTo>
                  <a:cubicBezTo>
                    <a:pt x="333" y="270"/>
                    <a:pt x="337" y="291"/>
                    <a:pt x="340" y="313"/>
                  </a:cubicBezTo>
                  <a:cubicBezTo>
                    <a:pt x="343" y="333"/>
                    <a:pt x="344" y="354"/>
                    <a:pt x="344" y="3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37B9F-F7D4-490B-B8D1-723E759320EF}"/>
                </a:ext>
              </a:extLst>
            </p:cNvPr>
            <p:cNvSpPr txBox="1"/>
            <p:nvPr/>
          </p:nvSpPr>
          <p:spPr>
            <a:xfrm>
              <a:off x="3162299" y="3906330"/>
              <a:ext cx="495302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HR</a:t>
              </a: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900" dirty="0">
                  <a:solidFill>
                    <a:schemeClr val="bg1"/>
                  </a:solidFill>
                </a:rPr>
                <a:t>PLAN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32C0092-A5BE-4296-9B7E-73CA9D6A0C92}"/>
                </a:ext>
              </a:extLst>
            </p:cNvPr>
            <p:cNvGrpSpPr/>
            <p:nvPr/>
          </p:nvGrpSpPr>
          <p:grpSpPr>
            <a:xfrm>
              <a:off x="3260907" y="3450123"/>
              <a:ext cx="330200" cy="346075"/>
              <a:chOff x="2686050" y="2895601"/>
              <a:chExt cx="330200" cy="346075"/>
            </a:xfrm>
          </p:grpSpPr>
          <p:sp>
            <p:nvSpPr>
              <p:cNvPr id="91" name="Oval 309">
                <a:extLst>
                  <a:ext uri="{FF2B5EF4-FFF2-40B4-BE49-F238E27FC236}">
                    <a16:creationId xmlns:a16="http://schemas.microsoft.com/office/drawing/2014/main" id="{322943C5-DF07-4D19-80BE-A092E8DCD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310">
                <a:extLst>
                  <a:ext uri="{FF2B5EF4-FFF2-40B4-BE49-F238E27FC236}">
                    <a16:creationId xmlns:a16="http://schemas.microsoft.com/office/drawing/2014/main" id="{AD6217C9-47FE-4784-97F3-BB1CEF6B0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Oval 311">
                <a:extLst>
                  <a:ext uri="{FF2B5EF4-FFF2-40B4-BE49-F238E27FC236}">
                    <a16:creationId xmlns:a16="http://schemas.microsoft.com/office/drawing/2014/main" id="{145614E0-2CF6-4018-A29C-347103CC1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Freeform 312">
                <a:extLst>
                  <a:ext uri="{FF2B5EF4-FFF2-40B4-BE49-F238E27FC236}">
                    <a16:creationId xmlns:a16="http://schemas.microsoft.com/office/drawing/2014/main" id="{C15930DF-7C04-43B8-94F3-9A62A91A3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Oval 313">
                <a:extLst>
                  <a:ext uri="{FF2B5EF4-FFF2-40B4-BE49-F238E27FC236}">
                    <a16:creationId xmlns:a16="http://schemas.microsoft.com/office/drawing/2014/main" id="{C37FB908-4B07-487A-8AE5-2C93E1AF8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Freeform 314">
                <a:extLst>
                  <a:ext uri="{FF2B5EF4-FFF2-40B4-BE49-F238E27FC236}">
                    <a16:creationId xmlns:a16="http://schemas.microsoft.com/office/drawing/2014/main" id="{B3C647A5-00EF-45D7-A795-5CC541EFF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Oval 315">
                <a:extLst>
                  <a:ext uri="{FF2B5EF4-FFF2-40B4-BE49-F238E27FC236}">
                    <a16:creationId xmlns:a16="http://schemas.microsoft.com/office/drawing/2014/main" id="{8E007759-5FF7-4D0A-A475-0EAD05E96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8" name="Freeform 316">
                <a:extLst>
                  <a:ext uri="{FF2B5EF4-FFF2-40B4-BE49-F238E27FC236}">
                    <a16:creationId xmlns:a16="http://schemas.microsoft.com/office/drawing/2014/main" id="{42BF9E91-C3D1-479E-A251-AD54A926B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9" name="Oval 317">
                <a:extLst>
                  <a:ext uri="{FF2B5EF4-FFF2-40B4-BE49-F238E27FC236}">
                    <a16:creationId xmlns:a16="http://schemas.microsoft.com/office/drawing/2014/main" id="{FE52E745-A552-4F06-9535-C6C622D93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Freeform 318">
                <a:extLst>
                  <a:ext uri="{FF2B5EF4-FFF2-40B4-BE49-F238E27FC236}">
                    <a16:creationId xmlns:a16="http://schemas.microsoft.com/office/drawing/2014/main" id="{A9F3F5BA-CD89-43EF-82A6-14201A89D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Freeform 319">
                <a:extLst>
                  <a:ext uri="{FF2B5EF4-FFF2-40B4-BE49-F238E27FC236}">
                    <a16:creationId xmlns:a16="http://schemas.microsoft.com/office/drawing/2014/main" id="{0C1B8AEB-E335-4D8B-8846-5975E8B3D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Line 320">
                <a:extLst>
                  <a:ext uri="{FF2B5EF4-FFF2-40B4-BE49-F238E27FC236}">
                    <a16:creationId xmlns:a16="http://schemas.microsoft.com/office/drawing/2014/main" id="{625F2B4F-F75B-4093-862F-865FC16AB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1E38458-8F3E-4314-9FA8-DC2B0EBB7E33}"/>
                </a:ext>
              </a:extLst>
            </p:cNvPr>
            <p:cNvGrpSpPr/>
            <p:nvPr/>
          </p:nvGrpSpPr>
          <p:grpSpPr>
            <a:xfrm>
              <a:off x="3211694" y="4933877"/>
              <a:ext cx="346075" cy="346075"/>
              <a:chOff x="3398838" y="2895601"/>
              <a:chExt cx="346075" cy="346075"/>
            </a:xfrm>
          </p:grpSpPr>
          <p:sp>
            <p:nvSpPr>
              <p:cNvPr id="75" name="Freeform 49">
                <a:extLst>
                  <a:ext uri="{FF2B5EF4-FFF2-40B4-BE49-F238E27FC236}">
                    <a16:creationId xmlns:a16="http://schemas.microsoft.com/office/drawing/2014/main" id="{52F6AE15-148B-4DD3-9B33-E89085198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6" name="Freeform 50">
                <a:extLst>
                  <a:ext uri="{FF2B5EF4-FFF2-40B4-BE49-F238E27FC236}">
                    <a16:creationId xmlns:a16="http://schemas.microsoft.com/office/drawing/2014/main" id="{B7DF1EA3-5709-492C-BABE-F390B608B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7" name="Oval 51">
                <a:extLst>
                  <a:ext uri="{FF2B5EF4-FFF2-40B4-BE49-F238E27FC236}">
                    <a16:creationId xmlns:a16="http://schemas.microsoft.com/office/drawing/2014/main" id="{964C8E4A-6689-4008-A522-91B998379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8" name="Freeform 52">
                <a:extLst>
                  <a:ext uri="{FF2B5EF4-FFF2-40B4-BE49-F238E27FC236}">
                    <a16:creationId xmlns:a16="http://schemas.microsoft.com/office/drawing/2014/main" id="{DA8DEA77-BD29-4118-B9AB-E053B3495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9" name="Freeform 53">
                <a:extLst>
                  <a:ext uri="{FF2B5EF4-FFF2-40B4-BE49-F238E27FC236}">
                    <a16:creationId xmlns:a16="http://schemas.microsoft.com/office/drawing/2014/main" id="{7758711F-A5C0-4C30-A3B1-91B546014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0" name="Freeform 54">
                <a:extLst>
                  <a:ext uri="{FF2B5EF4-FFF2-40B4-BE49-F238E27FC236}">
                    <a16:creationId xmlns:a16="http://schemas.microsoft.com/office/drawing/2014/main" id="{A575C4B8-CC49-4D59-BC4B-A13D8D97A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Oval 55">
                <a:extLst>
                  <a:ext uri="{FF2B5EF4-FFF2-40B4-BE49-F238E27FC236}">
                    <a16:creationId xmlns:a16="http://schemas.microsoft.com/office/drawing/2014/main" id="{EE9FF2CA-A0D9-41EF-8A6D-06571B57B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56">
                <a:extLst>
                  <a:ext uri="{FF2B5EF4-FFF2-40B4-BE49-F238E27FC236}">
                    <a16:creationId xmlns:a16="http://schemas.microsoft.com/office/drawing/2014/main" id="{74276568-12D5-4791-8AAE-E71301B35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57">
                <a:extLst>
                  <a:ext uri="{FF2B5EF4-FFF2-40B4-BE49-F238E27FC236}">
                    <a16:creationId xmlns:a16="http://schemas.microsoft.com/office/drawing/2014/main" id="{36893D6E-C781-44C6-B4DB-BF8FDD3B4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58">
                <a:extLst>
                  <a:ext uri="{FF2B5EF4-FFF2-40B4-BE49-F238E27FC236}">
                    <a16:creationId xmlns:a16="http://schemas.microsoft.com/office/drawing/2014/main" id="{E40B690B-BA0B-4EEC-A0CF-7DA3B2E43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Oval 59">
                <a:extLst>
                  <a:ext uri="{FF2B5EF4-FFF2-40B4-BE49-F238E27FC236}">
                    <a16:creationId xmlns:a16="http://schemas.microsoft.com/office/drawing/2014/main" id="{971E19C9-854B-41E7-A5D7-36AE58BA6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DE348461-111F-4014-A8A3-F56B07127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Line 61">
                <a:extLst>
                  <a:ext uri="{FF2B5EF4-FFF2-40B4-BE49-F238E27FC236}">
                    <a16:creationId xmlns:a16="http://schemas.microsoft.com/office/drawing/2014/main" id="{22CD114E-A6F0-4722-A4EE-4C318C1DC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62">
                <a:extLst>
                  <a:ext uri="{FF2B5EF4-FFF2-40B4-BE49-F238E27FC236}">
                    <a16:creationId xmlns:a16="http://schemas.microsoft.com/office/drawing/2014/main" id="{F7E3A019-70E0-420D-BBF5-DAE0B933D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8E10038-0AE7-4F94-99B0-CEA210C9535B}"/>
                </a:ext>
              </a:extLst>
            </p:cNvPr>
            <p:cNvGrpSpPr/>
            <p:nvPr/>
          </p:nvGrpSpPr>
          <p:grpSpPr>
            <a:xfrm>
              <a:off x="4359934" y="2904941"/>
              <a:ext cx="330200" cy="315913"/>
              <a:chOff x="4127500" y="2909888"/>
              <a:chExt cx="330200" cy="315913"/>
            </a:xfrm>
          </p:grpSpPr>
          <p:sp>
            <p:nvSpPr>
              <p:cNvPr id="64" name="Oval 268">
                <a:extLst>
                  <a:ext uri="{FF2B5EF4-FFF2-40B4-BE49-F238E27FC236}">
                    <a16:creationId xmlns:a16="http://schemas.microsoft.com/office/drawing/2014/main" id="{F7A8EBC1-9006-4CB5-A698-1D1D62E0D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725" y="3060701"/>
                <a:ext cx="76200" cy="74613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5" name="Freeform 269">
                <a:extLst>
                  <a:ext uri="{FF2B5EF4-FFF2-40B4-BE49-F238E27FC236}">
                    <a16:creationId xmlns:a16="http://schemas.microsoft.com/office/drawing/2014/main" id="{0CBCD43D-AE92-41F5-9C2B-B4B3FE6FF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135313"/>
                <a:ext cx="109538" cy="60325"/>
              </a:xfrm>
              <a:custGeom>
                <a:avLst/>
                <a:gdLst>
                  <a:gd name="T0" fmla="*/ 22 w 29"/>
                  <a:gd name="T1" fmla="*/ 16 h 16"/>
                  <a:gd name="T2" fmla="*/ 0 w 29"/>
                  <a:gd name="T3" fmla="*/ 16 h 16"/>
                  <a:gd name="T4" fmla="*/ 16 w 29"/>
                  <a:gd name="T5" fmla="*/ 0 h 16"/>
                  <a:gd name="T6" fmla="*/ 29 w 29"/>
                  <a:gd name="T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22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1" y="0"/>
                      <a:pt x="26" y="3"/>
                      <a:pt x="29" y="7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6" name="Oval 270">
                <a:extLst>
                  <a:ext uri="{FF2B5EF4-FFF2-40B4-BE49-F238E27FC236}">
                    <a16:creationId xmlns:a16="http://schemas.microsoft.com/office/drawing/2014/main" id="{282262E1-7304-47F8-ADFC-CA07C9ADF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863" y="3060701"/>
                <a:ext cx="74613" cy="74613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7" name="Freeform 271">
                <a:extLst>
                  <a:ext uri="{FF2B5EF4-FFF2-40B4-BE49-F238E27FC236}">
                    <a16:creationId xmlns:a16="http://schemas.microsoft.com/office/drawing/2014/main" id="{61422BB8-6120-4583-B04B-D675BF219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750" y="3135313"/>
                <a:ext cx="107950" cy="60325"/>
              </a:xfrm>
              <a:custGeom>
                <a:avLst/>
                <a:gdLst>
                  <a:gd name="T0" fmla="*/ 0 w 29"/>
                  <a:gd name="T1" fmla="*/ 7 h 16"/>
                  <a:gd name="T2" fmla="*/ 13 w 29"/>
                  <a:gd name="T3" fmla="*/ 0 h 16"/>
                  <a:gd name="T4" fmla="*/ 29 w 29"/>
                  <a:gd name="T5" fmla="*/ 16 h 16"/>
                  <a:gd name="T6" fmla="*/ 7 w 29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0" y="7"/>
                    </a:moveTo>
                    <a:cubicBezTo>
                      <a:pt x="3" y="3"/>
                      <a:pt x="8" y="0"/>
                      <a:pt x="13" y="0"/>
                    </a:cubicBezTo>
                    <a:cubicBezTo>
                      <a:pt x="22" y="0"/>
                      <a:pt x="29" y="7"/>
                      <a:pt x="29" y="16"/>
                    </a:cubicBezTo>
                    <a:cubicBezTo>
                      <a:pt x="7" y="16"/>
                      <a:pt x="7" y="16"/>
                      <a:pt x="7" y="16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" name="Oval 272">
                <a:extLst>
                  <a:ext uri="{FF2B5EF4-FFF2-40B4-BE49-F238E27FC236}">
                    <a16:creationId xmlns:a16="http://schemas.microsoft.com/office/drawing/2014/main" id="{921647A8-2EB5-4C08-8422-414742FE7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213" y="3030538"/>
                <a:ext cx="104775" cy="1095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9" name="Freeform 273">
                <a:extLst>
                  <a:ext uri="{FF2B5EF4-FFF2-40B4-BE49-F238E27FC236}">
                    <a16:creationId xmlns:a16="http://schemas.microsoft.com/office/drawing/2014/main" id="{453B206B-E6FA-440E-8267-6B4EF6804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813" y="2986088"/>
                <a:ext cx="157163" cy="36513"/>
              </a:xfrm>
              <a:custGeom>
                <a:avLst/>
                <a:gdLst>
                  <a:gd name="T0" fmla="*/ 0 w 42"/>
                  <a:gd name="T1" fmla="*/ 10 h 10"/>
                  <a:gd name="T2" fmla="*/ 21 w 42"/>
                  <a:gd name="T3" fmla="*/ 0 h 10"/>
                  <a:gd name="T4" fmla="*/ 42 w 42"/>
                  <a:gd name="T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10">
                    <a:moveTo>
                      <a:pt x="0" y="10"/>
                    </a:moveTo>
                    <a:cubicBezTo>
                      <a:pt x="5" y="4"/>
                      <a:pt x="13" y="0"/>
                      <a:pt x="21" y="0"/>
                    </a:cubicBezTo>
                    <a:cubicBezTo>
                      <a:pt x="29" y="0"/>
                      <a:pt x="37" y="4"/>
                      <a:pt x="42" y="10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0" name="Freeform 274">
                <a:extLst>
                  <a:ext uri="{FF2B5EF4-FFF2-40B4-BE49-F238E27FC236}">
                    <a16:creationId xmlns:a16="http://schemas.microsoft.com/office/drawing/2014/main" id="{41B368DF-58C1-48A8-8E16-E3B4645A1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947988"/>
                <a:ext cx="211138" cy="49213"/>
              </a:xfrm>
              <a:custGeom>
                <a:avLst/>
                <a:gdLst>
                  <a:gd name="T0" fmla="*/ 0 w 56"/>
                  <a:gd name="T1" fmla="*/ 13 h 13"/>
                  <a:gd name="T2" fmla="*/ 28 w 56"/>
                  <a:gd name="T3" fmla="*/ 0 h 13"/>
                  <a:gd name="T4" fmla="*/ 56 w 56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13">
                    <a:moveTo>
                      <a:pt x="0" y="13"/>
                    </a:moveTo>
                    <a:cubicBezTo>
                      <a:pt x="7" y="5"/>
                      <a:pt x="17" y="0"/>
                      <a:pt x="28" y="0"/>
                    </a:cubicBezTo>
                    <a:cubicBezTo>
                      <a:pt x="39" y="0"/>
                      <a:pt x="49" y="5"/>
                      <a:pt x="56" y="13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1" name="Freeform 275">
                <a:extLst>
                  <a:ext uri="{FF2B5EF4-FFF2-40B4-BE49-F238E27FC236}">
                    <a16:creationId xmlns:a16="http://schemas.microsoft.com/office/drawing/2014/main" id="{75651205-4A53-463F-A685-DE5C8BC6B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663" y="2909888"/>
                <a:ext cx="269875" cy="63500"/>
              </a:xfrm>
              <a:custGeom>
                <a:avLst/>
                <a:gdLst>
                  <a:gd name="T0" fmla="*/ 0 w 72"/>
                  <a:gd name="T1" fmla="*/ 17 h 17"/>
                  <a:gd name="T2" fmla="*/ 36 w 72"/>
                  <a:gd name="T3" fmla="*/ 0 h 17"/>
                  <a:gd name="T4" fmla="*/ 72 w 7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17">
                    <a:moveTo>
                      <a:pt x="0" y="17"/>
                    </a:moveTo>
                    <a:cubicBezTo>
                      <a:pt x="8" y="7"/>
                      <a:pt x="21" y="0"/>
                      <a:pt x="36" y="0"/>
                    </a:cubicBezTo>
                    <a:cubicBezTo>
                      <a:pt x="51" y="0"/>
                      <a:pt x="64" y="7"/>
                      <a:pt x="72" y="17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2" name="Freeform 276">
                <a:extLst>
                  <a:ext uri="{FF2B5EF4-FFF2-40B4-BE49-F238E27FC236}">
                    <a16:creationId xmlns:a16="http://schemas.microsoft.com/office/drawing/2014/main" id="{83B67D48-AF94-4FED-959B-C51A15982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3140076"/>
                <a:ext cx="173038" cy="85725"/>
              </a:xfrm>
              <a:custGeom>
                <a:avLst/>
                <a:gdLst>
                  <a:gd name="T0" fmla="*/ 46 w 46"/>
                  <a:gd name="T1" fmla="*/ 23 h 23"/>
                  <a:gd name="T2" fmla="*/ 0 w 46"/>
                  <a:gd name="T3" fmla="*/ 23 h 23"/>
                  <a:gd name="T4" fmla="*/ 23 w 46"/>
                  <a:gd name="T5" fmla="*/ 0 h 23"/>
                  <a:gd name="T6" fmla="*/ 46 w 46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3">
                    <a:moveTo>
                      <a:pt x="46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6" y="10"/>
                      <a:pt x="46" y="23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63" name="Rectangle 62" descr="This image is of three overlapping circles.   ">
              <a:extLst>
                <a:ext uri="{FF2B5EF4-FFF2-40B4-BE49-F238E27FC236}">
                  <a16:creationId xmlns:a16="http://schemas.microsoft.com/office/drawing/2014/main" id="{84BAF14B-A443-42DB-8BF6-893FAE5CCE6F}"/>
                </a:ext>
              </a:extLst>
            </p:cNvPr>
            <p:cNvSpPr/>
            <p:nvPr/>
          </p:nvSpPr>
          <p:spPr>
            <a:xfrm>
              <a:off x="4561225" y="4571423"/>
              <a:ext cx="1260332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endParaRPr lang="en-US" sz="1600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6CD563-9511-4250-BCB0-1FBFAAE1289C}"/>
                </a:ext>
              </a:extLst>
            </p:cNvPr>
            <p:cNvGrpSpPr/>
            <p:nvPr/>
          </p:nvGrpSpPr>
          <p:grpSpPr>
            <a:xfrm>
              <a:off x="2177290" y="2874779"/>
              <a:ext cx="344488" cy="346075"/>
              <a:chOff x="4841875" y="2895601"/>
              <a:chExt cx="344488" cy="346075"/>
            </a:xfrm>
          </p:grpSpPr>
          <p:sp>
            <p:nvSpPr>
              <p:cNvPr id="52" name="Freeform 258">
                <a:extLst>
                  <a:ext uri="{FF2B5EF4-FFF2-40B4-BE49-F238E27FC236}">
                    <a16:creationId xmlns:a16="http://schemas.microsoft.com/office/drawing/2014/main" id="{7B269D94-9FED-4F93-A218-57CD14D4F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4" name="Freeform 260">
                <a:extLst>
                  <a:ext uri="{FF2B5EF4-FFF2-40B4-BE49-F238E27FC236}">
                    <a16:creationId xmlns:a16="http://schemas.microsoft.com/office/drawing/2014/main" id="{11230DFA-75B1-4B65-BDFE-221090714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5" name="Line 261">
                <a:extLst>
                  <a:ext uri="{FF2B5EF4-FFF2-40B4-BE49-F238E27FC236}">
                    <a16:creationId xmlns:a16="http://schemas.microsoft.com/office/drawing/2014/main" id="{54B6C7BB-BBA1-4668-9BF5-325AA69CE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6" name="Line 262">
                <a:extLst>
                  <a:ext uri="{FF2B5EF4-FFF2-40B4-BE49-F238E27FC236}">
                    <a16:creationId xmlns:a16="http://schemas.microsoft.com/office/drawing/2014/main" id="{6DC0A898-A566-45D7-BD7F-6205ED16E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7" name="Line 263">
                <a:extLst>
                  <a:ext uri="{FF2B5EF4-FFF2-40B4-BE49-F238E27FC236}">
                    <a16:creationId xmlns:a16="http://schemas.microsoft.com/office/drawing/2014/main" id="{E201D585-E178-408E-A42A-A9FD198C4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8" name="Oval 264">
                <a:extLst>
                  <a:ext uri="{FF2B5EF4-FFF2-40B4-BE49-F238E27FC236}">
                    <a16:creationId xmlns:a16="http://schemas.microsoft.com/office/drawing/2014/main" id="{9C382A44-3942-4A8E-98A1-2685D9AAE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0" name="Oval 266">
                <a:extLst>
                  <a:ext uri="{FF2B5EF4-FFF2-40B4-BE49-F238E27FC236}">
                    <a16:creationId xmlns:a16="http://schemas.microsoft.com/office/drawing/2014/main" id="{0279AB69-DF67-4836-8A04-8F550D181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1" name="Freeform 267">
                <a:extLst>
                  <a:ext uri="{FF2B5EF4-FFF2-40B4-BE49-F238E27FC236}">
                    <a16:creationId xmlns:a16="http://schemas.microsoft.com/office/drawing/2014/main" id="{E1BFECCB-F108-4293-A159-3CFFB2E29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0F61556-59B4-4A9C-90FA-556F81054F9F}"/>
                </a:ext>
              </a:extLst>
            </p:cNvPr>
            <p:cNvSpPr/>
            <p:nvPr/>
          </p:nvSpPr>
          <p:spPr>
            <a:xfrm>
              <a:off x="931858" y="4481916"/>
              <a:ext cx="1260332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endParaRPr lang="en-US" sz="1600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5EBCB29-78BB-40FE-BAC2-F83D56B8F2B7}"/>
                </a:ext>
              </a:extLst>
            </p:cNvPr>
            <p:cNvSpPr/>
            <p:nvPr/>
          </p:nvSpPr>
          <p:spPr>
            <a:xfrm>
              <a:off x="2776791" y="1495581"/>
              <a:ext cx="1260332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endParaRPr lang="en-US" sz="1600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29218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A21B85DB-181D-46E7-A9DF-F92B1DF0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2321" y="2627247"/>
            <a:ext cx="443592" cy="30609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3768" y="1459746"/>
            <a:ext cx="3603287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 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E9F5B85-E2F5-4C15-9A02-657F53EEE3BD}"/>
              </a:ext>
            </a:extLst>
          </p:cNvPr>
          <p:cNvSpPr/>
          <p:nvPr/>
        </p:nvSpPr>
        <p:spPr>
          <a:xfrm>
            <a:off x="7931905" y="2627247"/>
            <a:ext cx="353619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latin typeface="Abadi" panose="020B0604020104020204" pitchFamily="34" charset="0"/>
              </a:rPr>
              <a:t>The dataset contains comprehensive Human Resource (HR) employee information.</a:t>
            </a:r>
            <a:endParaRPr lang="en-US" sz="1600" i="1" dirty="0">
              <a:solidFill>
                <a:srgbClr val="002060"/>
              </a:solidFill>
              <a:latin typeface="Abadi" panose="020B06040201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FD0F77B-65FD-413C-B2B0-1AD539DC68D3}"/>
              </a:ext>
            </a:extLst>
          </p:cNvPr>
          <p:cNvGrpSpPr/>
          <p:nvPr/>
        </p:nvGrpSpPr>
        <p:grpSpPr>
          <a:xfrm>
            <a:off x="7319810" y="3639194"/>
            <a:ext cx="330200" cy="346075"/>
            <a:chOff x="2686050" y="2895601"/>
            <a:chExt cx="330200" cy="346075"/>
          </a:xfrm>
        </p:grpSpPr>
        <p:sp>
          <p:nvSpPr>
            <p:cNvPr id="192" name="Oval 309">
              <a:extLst>
                <a:ext uri="{FF2B5EF4-FFF2-40B4-BE49-F238E27FC236}">
                  <a16:creationId xmlns:a16="http://schemas.microsoft.com/office/drawing/2014/main" id="{C57EF862-9A10-430C-8004-66A9241CE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875" y="2895601"/>
              <a:ext cx="82550" cy="82550"/>
            </a:xfrm>
            <a:prstGeom prst="ellips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3" name="Freeform 310">
              <a:extLst>
                <a:ext uri="{FF2B5EF4-FFF2-40B4-BE49-F238E27FC236}">
                  <a16:creationId xmlns:a16="http://schemas.microsoft.com/office/drawing/2014/main" id="{13EA5F29-D427-40C4-AB4D-3D59B3F69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888" y="2978151"/>
              <a:ext cx="134938" cy="66675"/>
            </a:xfrm>
            <a:custGeom>
              <a:avLst/>
              <a:gdLst>
                <a:gd name="T0" fmla="*/ 36 w 36"/>
                <a:gd name="T1" fmla="*/ 18 h 18"/>
                <a:gd name="T2" fmla="*/ 0 w 36"/>
                <a:gd name="T3" fmla="*/ 18 h 18"/>
                <a:gd name="T4" fmla="*/ 18 w 36"/>
                <a:gd name="T5" fmla="*/ 0 h 18"/>
                <a:gd name="T6" fmla="*/ 36 w 36"/>
                <a:gd name="T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8">
                  <a:moveTo>
                    <a:pt x="36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lose/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4" name="Oval 311">
              <a:extLst>
                <a:ext uri="{FF2B5EF4-FFF2-40B4-BE49-F238E27FC236}">
                  <a16:creationId xmlns:a16="http://schemas.microsoft.com/office/drawing/2014/main" id="{D591DE3C-214D-426A-9B8E-741D87BAF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75" y="3128963"/>
              <a:ext cx="60325" cy="58738"/>
            </a:xfrm>
            <a:prstGeom prst="ellips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5" name="Freeform 312">
              <a:extLst>
                <a:ext uri="{FF2B5EF4-FFF2-40B4-BE49-F238E27FC236}">
                  <a16:creationId xmlns:a16="http://schemas.microsoft.com/office/drawing/2014/main" id="{921D329D-AC5C-496B-96D4-A220BC49B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050" y="3187701"/>
              <a:ext cx="104775" cy="53975"/>
            </a:xfrm>
            <a:custGeom>
              <a:avLst/>
              <a:gdLst>
                <a:gd name="T0" fmla="*/ 28 w 28"/>
                <a:gd name="T1" fmla="*/ 14 h 14"/>
                <a:gd name="T2" fmla="*/ 0 w 28"/>
                <a:gd name="T3" fmla="*/ 14 h 14"/>
                <a:gd name="T4" fmla="*/ 14 w 28"/>
                <a:gd name="T5" fmla="*/ 0 h 14"/>
                <a:gd name="T6" fmla="*/ 28 w 28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4">
                  <a:moveTo>
                    <a:pt x="28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6" name="Oval 313">
              <a:extLst>
                <a:ext uri="{FF2B5EF4-FFF2-40B4-BE49-F238E27FC236}">
                  <a16:creationId xmlns:a16="http://schemas.microsoft.com/office/drawing/2014/main" id="{87933186-B346-44AC-85AA-CA346F5FB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700" y="3128963"/>
              <a:ext cx="60325" cy="58738"/>
            </a:xfrm>
            <a:prstGeom prst="ellips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7" name="Freeform 314">
              <a:extLst>
                <a:ext uri="{FF2B5EF4-FFF2-40B4-BE49-F238E27FC236}">
                  <a16:creationId xmlns:a16="http://schemas.microsoft.com/office/drawing/2014/main" id="{E0E3BA39-8375-478D-9CF6-4EC743813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475" y="3187701"/>
              <a:ext cx="104775" cy="53975"/>
            </a:xfrm>
            <a:custGeom>
              <a:avLst/>
              <a:gdLst>
                <a:gd name="T0" fmla="*/ 28 w 28"/>
                <a:gd name="T1" fmla="*/ 14 h 14"/>
                <a:gd name="T2" fmla="*/ 0 w 28"/>
                <a:gd name="T3" fmla="*/ 14 h 14"/>
                <a:gd name="T4" fmla="*/ 14 w 28"/>
                <a:gd name="T5" fmla="*/ 0 h 14"/>
                <a:gd name="T6" fmla="*/ 28 w 28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4">
                  <a:moveTo>
                    <a:pt x="28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8" name="Oval 315">
              <a:extLst>
                <a:ext uri="{FF2B5EF4-FFF2-40B4-BE49-F238E27FC236}">
                  <a16:creationId xmlns:a16="http://schemas.microsoft.com/office/drawing/2014/main" id="{550D4481-BC6A-476D-80E1-F12F8ED9F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700" y="3128963"/>
              <a:ext cx="60325" cy="58738"/>
            </a:xfrm>
            <a:prstGeom prst="ellips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9" name="Freeform 316">
              <a:extLst>
                <a:ext uri="{FF2B5EF4-FFF2-40B4-BE49-F238E27FC236}">
                  <a16:creationId xmlns:a16="http://schemas.microsoft.com/office/drawing/2014/main" id="{951EE685-6291-44F0-81B1-A3B5791D1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475" y="3187701"/>
              <a:ext cx="104775" cy="53975"/>
            </a:xfrm>
            <a:custGeom>
              <a:avLst/>
              <a:gdLst>
                <a:gd name="T0" fmla="*/ 28 w 28"/>
                <a:gd name="T1" fmla="*/ 14 h 14"/>
                <a:gd name="T2" fmla="*/ 0 w 28"/>
                <a:gd name="T3" fmla="*/ 14 h 14"/>
                <a:gd name="T4" fmla="*/ 14 w 28"/>
                <a:gd name="T5" fmla="*/ 0 h 14"/>
                <a:gd name="T6" fmla="*/ 28 w 28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4">
                  <a:moveTo>
                    <a:pt x="28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0" name="Oval 317">
              <a:extLst>
                <a:ext uri="{FF2B5EF4-FFF2-40B4-BE49-F238E27FC236}">
                  <a16:creationId xmlns:a16="http://schemas.microsoft.com/office/drawing/2014/main" id="{1822195B-E26A-4DF0-B1B1-A36823632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988" y="3128963"/>
              <a:ext cx="60325" cy="58738"/>
            </a:xfrm>
            <a:prstGeom prst="ellips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1" name="Freeform 318">
              <a:extLst>
                <a:ext uri="{FF2B5EF4-FFF2-40B4-BE49-F238E27FC236}">
                  <a16:creationId xmlns:a16="http://schemas.microsoft.com/office/drawing/2014/main" id="{E33AF9C8-AD93-4E36-9887-B8B748838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763" y="3187701"/>
              <a:ext cx="104775" cy="53975"/>
            </a:xfrm>
            <a:custGeom>
              <a:avLst/>
              <a:gdLst>
                <a:gd name="T0" fmla="*/ 28 w 28"/>
                <a:gd name="T1" fmla="*/ 14 h 14"/>
                <a:gd name="T2" fmla="*/ 0 w 28"/>
                <a:gd name="T3" fmla="*/ 14 h 14"/>
                <a:gd name="T4" fmla="*/ 14 w 28"/>
                <a:gd name="T5" fmla="*/ 0 h 14"/>
                <a:gd name="T6" fmla="*/ 28 w 28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4">
                  <a:moveTo>
                    <a:pt x="28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2" name="Freeform 319">
              <a:extLst>
                <a:ext uri="{FF2B5EF4-FFF2-40B4-BE49-F238E27FC236}">
                  <a16:creationId xmlns:a16="http://schemas.microsoft.com/office/drawing/2014/main" id="{3E3913FB-5C76-4699-89D5-5A7145411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3074988"/>
              <a:ext cx="225425" cy="15875"/>
            </a:xfrm>
            <a:custGeom>
              <a:avLst/>
              <a:gdLst>
                <a:gd name="T0" fmla="*/ 0 w 142"/>
                <a:gd name="T1" fmla="*/ 10 h 10"/>
                <a:gd name="T2" fmla="*/ 0 w 142"/>
                <a:gd name="T3" fmla="*/ 0 h 10"/>
                <a:gd name="T4" fmla="*/ 142 w 142"/>
                <a:gd name="T5" fmla="*/ 0 h 10"/>
                <a:gd name="T6" fmla="*/ 142 w 142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0">
                  <a:moveTo>
                    <a:pt x="0" y="10"/>
                  </a:moveTo>
                  <a:lnTo>
                    <a:pt x="0" y="0"/>
                  </a:lnTo>
                  <a:lnTo>
                    <a:pt x="142" y="0"/>
                  </a:lnTo>
                  <a:lnTo>
                    <a:pt x="142" y="10"/>
                  </a:lnTo>
                </a:path>
              </a:pathLst>
            </a:cu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3" name="Line 320">
              <a:extLst>
                <a:ext uri="{FF2B5EF4-FFF2-40B4-BE49-F238E27FC236}">
                  <a16:creationId xmlns:a16="http://schemas.microsoft.com/office/drawing/2014/main" id="{C96335B1-62B8-4482-A67B-BE60CF58E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150" y="3044826"/>
              <a:ext cx="0" cy="46038"/>
            </a:xfrm>
            <a:prstGeom prst="line">
              <a:avLst/>
            </a:prstGeom>
            <a:noFill/>
            <a:ln w="14288" cap="rnd">
              <a:solidFill>
                <a:srgbClr val="00206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05" name="Group 204" descr="This image is an icon of three people interacting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311873" y="4554108"/>
            <a:ext cx="3075334" cy="492443"/>
            <a:chOff x="7991679" y="4554108"/>
            <a:chExt cx="3075334" cy="492443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reeform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reeform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Oval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reeform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reeform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reeform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Oval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reeform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reeform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reeform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Oval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reeform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ine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ine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600" dirty="0">
                  <a:latin typeface="Abadi" panose="020B0604020104020204" pitchFamily="34" charset="0"/>
                  <a:cs typeface="Aharoni" panose="02010803020104030203" pitchFamily="2" charset="-79"/>
                </a:rPr>
                <a:t>Total number of employees analyzed: 2,845.</a:t>
              </a:r>
              <a:r>
                <a:rPr lang="en-US" sz="1600" i="1" dirty="0">
                  <a:solidFill>
                    <a:srgbClr val="002060"/>
                  </a:solidFill>
                  <a:latin typeface="Abadi" panose="020B0604020104020204" pitchFamily="34" charset="0"/>
                  <a:cs typeface="Aharoni" panose="02010803020104030203" pitchFamily="2" charset="-79"/>
                </a:rPr>
                <a:t> </a:t>
              </a:r>
            </a:p>
          </p:txBody>
        </p:sp>
      </p:grpSp>
      <p:grpSp>
        <p:nvGrpSpPr>
          <p:cNvPr id="204" name="Group 203" descr="This image is an icon of three people with a symbol that indicates connection to the internet. ">
            <a:extLst>
              <a:ext uri="{FF2B5EF4-FFF2-40B4-BE49-F238E27FC236}">
                <a16:creationId xmlns:a16="http://schemas.microsoft.com/office/drawing/2014/main" id="{BCE3CAEB-5C3F-4903-9D74-1EC0A2984EE9}"/>
              </a:ext>
            </a:extLst>
          </p:cNvPr>
          <p:cNvGrpSpPr/>
          <p:nvPr/>
        </p:nvGrpSpPr>
        <p:grpSpPr>
          <a:xfrm>
            <a:off x="7319810" y="5542207"/>
            <a:ext cx="3067397" cy="404178"/>
            <a:chOff x="7999616" y="5542207"/>
            <a:chExt cx="3067397" cy="404178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79FB62D-7154-40A3-BB31-9A0934208E2F}"/>
                </a:ext>
              </a:extLst>
            </p:cNvPr>
            <p:cNvGrpSpPr/>
            <p:nvPr/>
          </p:nvGrpSpPr>
          <p:grpSpPr>
            <a:xfrm>
              <a:off x="7999616" y="5630472"/>
              <a:ext cx="330200" cy="315913"/>
              <a:chOff x="4127500" y="2909888"/>
              <a:chExt cx="330200" cy="315913"/>
            </a:xfrm>
          </p:grpSpPr>
          <p:sp>
            <p:nvSpPr>
              <p:cNvPr id="165" name="Oval 268">
                <a:extLst>
                  <a:ext uri="{FF2B5EF4-FFF2-40B4-BE49-F238E27FC236}">
                    <a16:creationId xmlns:a16="http://schemas.microsoft.com/office/drawing/2014/main" id="{BD72EF5D-EE26-4982-B3AB-9CF58444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725" y="3060701"/>
                <a:ext cx="76200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6" name="Freeform 269">
                <a:extLst>
                  <a:ext uri="{FF2B5EF4-FFF2-40B4-BE49-F238E27FC236}">
                    <a16:creationId xmlns:a16="http://schemas.microsoft.com/office/drawing/2014/main" id="{D9F3CD5B-3BA2-4D51-A0BD-6E802941F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135313"/>
                <a:ext cx="109538" cy="60325"/>
              </a:xfrm>
              <a:custGeom>
                <a:avLst/>
                <a:gdLst>
                  <a:gd name="T0" fmla="*/ 22 w 29"/>
                  <a:gd name="T1" fmla="*/ 16 h 16"/>
                  <a:gd name="T2" fmla="*/ 0 w 29"/>
                  <a:gd name="T3" fmla="*/ 16 h 16"/>
                  <a:gd name="T4" fmla="*/ 16 w 29"/>
                  <a:gd name="T5" fmla="*/ 0 h 16"/>
                  <a:gd name="T6" fmla="*/ 29 w 29"/>
                  <a:gd name="T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22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1" y="0"/>
                      <a:pt x="26" y="3"/>
                      <a:pt x="29" y="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7" name="Oval 270">
                <a:extLst>
                  <a:ext uri="{FF2B5EF4-FFF2-40B4-BE49-F238E27FC236}">
                    <a16:creationId xmlns:a16="http://schemas.microsoft.com/office/drawing/2014/main" id="{85B43E76-36A9-4667-852E-AD239EC04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863" y="3060701"/>
                <a:ext cx="74613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8" name="Freeform 271">
                <a:extLst>
                  <a:ext uri="{FF2B5EF4-FFF2-40B4-BE49-F238E27FC236}">
                    <a16:creationId xmlns:a16="http://schemas.microsoft.com/office/drawing/2014/main" id="{DFF4B198-89FE-47D5-B7B7-8C893ABCC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750" y="3135313"/>
                <a:ext cx="107950" cy="60325"/>
              </a:xfrm>
              <a:custGeom>
                <a:avLst/>
                <a:gdLst>
                  <a:gd name="T0" fmla="*/ 0 w 29"/>
                  <a:gd name="T1" fmla="*/ 7 h 16"/>
                  <a:gd name="T2" fmla="*/ 13 w 29"/>
                  <a:gd name="T3" fmla="*/ 0 h 16"/>
                  <a:gd name="T4" fmla="*/ 29 w 29"/>
                  <a:gd name="T5" fmla="*/ 16 h 16"/>
                  <a:gd name="T6" fmla="*/ 7 w 29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0" y="7"/>
                    </a:moveTo>
                    <a:cubicBezTo>
                      <a:pt x="3" y="3"/>
                      <a:pt x="8" y="0"/>
                      <a:pt x="13" y="0"/>
                    </a:cubicBezTo>
                    <a:cubicBezTo>
                      <a:pt x="22" y="0"/>
                      <a:pt x="29" y="7"/>
                      <a:pt x="29" y="16"/>
                    </a:cubicBezTo>
                    <a:cubicBezTo>
                      <a:pt x="7" y="16"/>
                      <a:pt x="7" y="16"/>
                      <a:pt x="7" y="16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9" name="Oval 272">
                <a:extLst>
                  <a:ext uri="{FF2B5EF4-FFF2-40B4-BE49-F238E27FC236}">
                    <a16:creationId xmlns:a16="http://schemas.microsoft.com/office/drawing/2014/main" id="{CE8C1F83-6F38-4A0B-8E08-4398BEC1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213" y="3030538"/>
                <a:ext cx="104775" cy="1095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0" name="Freeform 273">
                <a:extLst>
                  <a:ext uri="{FF2B5EF4-FFF2-40B4-BE49-F238E27FC236}">
                    <a16:creationId xmlns:a16="http://schemas.microsoft.com/office/drawing/2014/main" id="{F5C16A34-C88B-42FA-BC46-1C9471DB8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813" y="2986088"/>
                <a:ext cx="157163" cy="36513"/>
              </a:xfrm>
              <a:custGeom>
                <a:avLst/>
                <a:gdLst>
                  <a:gd name="T0" fmla="*/ 0 w 42"/>
                  <a:gd name="T1" fmla="*/ 10 h 10"/>
                  <a:gd name="T2" fmla="*/ 21 w 42"/>
                  <a:gd name="T3" fmla="*/ 0 h 10"/>
                  <a:gd name="T4" fmla="*/ 42 w 42"/>
                  <a:gd name="T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10">
                    <a:moveTo>
                      <a:pt x="0" y="10"/>
                    </a:moveTo>
                    <a:cubicBezTo>
                      <a:pt x="5" y="4"/>
                      <a:pt x="13" y="0"/>
                      <a:pt x="21" y="0"/>
                    </a:cubicBezTo>
                    <a:cubicBezTo>
                      <a:pt x="29" y="0"/>
                      <a:pt x="37" y="4"/>
                      <a:pt x="42" y="10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1" name="Freeform 274">
                <a:extLst>
                  <a:ext uri="{FF2B5EF4-FFF2-40B4-BE49-F238E27FC236}">
                    <a16:creationId xmlns:a16="http://schemas.microsoft.com/office/drawing/2014/main" id="{1D976AB4-49AA-4482-B357-FA665EA78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947988"/>
                <a:ext cx="211138" cy="49213"/>
              </a:xfrm>
              <a:custGeom>
                <a:avLst/>
                <a:gdLst>
                  <a:gd name="T0" fmla="*/ 0 w 56"/>
                  <a:gd name="T1" fmla="*/ 13 h 13"/>
                  <a:gd name="T2" fmla="*/ 28 w 56"/>
                  <a:gd name="T3" fmla="*/ 0 h 13"/>
                  <a:gd name="T4" fmla="*/ 56 w 56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13">
                    <a:moveTo>
                      <a:pt x="0" y="13"/>
                    </a:moveTo>
                    <a:cubicBezTo>
                      <a:pt x="7" y="5"/>
                      <a:pt x="17" y="0"/>
                      <a:pt x="28" y="0"/>
                    </a:cubicBezTo>
                    <a:cubicBezTo>
                      <a:pt x="39" y="0"/>
                      <a:pt x="49" y="5"/>
                      <a:pt x="56" y="13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2" name="Freeform 275">
                <a:extLst>
                  <a:ext uri="{FF2B5EF4-FFF2-40B4-BE49-F238E27FC236}">
                    <a16:creationId xmlns:a16="http://schemas.microsoft.com/office/drawing/2014/main" id="{40CDCACF-1136-47C8-A50F-2C6DCEFC7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663" y="2909888"/>
                <a:ext cx="269875" cy="63500"/>
              </a:xfrm>
              <a:custGeom>
                <a:avLst/>
                <a:gdLst>
                  <a:gd name="T0" fmla="*/ 0 w 72"/>
                  <a:gd name="T1" fmla="*/ 17 h 17"/>
                  <a:gd name="T2" fmla="*/ 36 w 72"/>
                  <a:gd name="T3" fmla="*/ 0 h 17"/>
                  <a:gd name="T4" fmla="*/ 72 w 7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17">
                    <a:moveTo>
                      <a:pt x="0" y="17"/>
                    </a:moveTo>
                    <a:cubicBezTo>
                      <a:pt x="8" y="7"/>
                      <a:pt x="21" y="0"/>
                      <a:pt x="36" y="0"/>
                    </a:cubicBezTo>
                    <a:cubicBezTo>
                      <a:pt x="51" y="0"/>
                      <a:pt x="64" y="7"/>
                      <a:pt x="72" y="1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3" name="Freeform 276">
                <a:extLst>
                  <a:ext uri="{FF2B5EF4-FFF2-40B4-BE49-F238E27FC236}">
                    <a16:creationId xmlns:a16="http://schemas.microsoft.com/office/drawing/2014/main" id="{E1D8459C-3776-4E84-AC6C-5275955B3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3140076"/>
                <a:ext cx="173038" cy="85725"/>
              </a:xfrm>
              <a:custGeom>
                <a:avLst/>
                <a:gdLst>
                  <a:gd name="T0" fmla="*/ 46 w 46"/>
                  <a:gd name="T1" fmla="*/ 23 h 23"/>
                  <a:gd name="T2" fmla="*/ 0 w 46"/>
                  <a:gd name="T3" fmla="*/ 23 h 23"/>
                  <a:gd name="T4" fmla="*/ 23 w 46"/>
                  <a:gd name="T5" fmla="*/ 0 h 23"/>
                  <a:gd name="T6" fmla="*/ 46 w 46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3">
                    <a:moveTo>
                      <a:pt x="46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6" y="10"/>
                      <a:pt x="46" y="23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E886A0B-A097-4934-BAAA-53B791623B0B}"/>
                </a:ext>
              </a:extLst>
            </p:cNvPr>
            <p:cNvSpPr/>
            <p:nvPr/>
          </p:nvSpPr>
          <p:spPr>
            <a:xfrm>
              <a:off x="8578718" y="5542207"/>
              <a:ext cx="248829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55FCB1B-D2BE-662B-F9D4-F111CD4CF0E4}"/>
              </a:ext>
            </a:extLst>
          </p:cNvPr>
          <p:cNvSpPr txBox="1"/>
          <p:nvPr/>
        </p:nvSpPr>
        <p:spPr>
          <a:xfrm>
            <a:off x="7851064" y="3507491"/>
            <a:ext cx="3032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F0502020204030204" pitchFamily="34" charset="0"/>
              </a:rPr>
              <a:t>Each record represents </a:t>
            </a:r>
            <a:r>
              <a:rPr lang="en-US" sz="1600" b="1" dirty="0">
                <a:latin typeface="Abadi" panose="020F0502020204030204" pitchFamily="34" charset="0"/>
              </a:rPr>
              <a:t>one </a:t>
            </a:r>
            <a:r>
              <a:rPr lang="en-US" sz="1600" dirty="0">
                <a:latin typeface="Abadi" panose="020F0502020204030204" pitchFamily="34" charset="0"/>
              </a:rPr>
              <a:t>individual employee in the organization.</a:t>
            </a:r>
            <a:endParaRPr lang="en-IN" sz="1600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F0989-8E5D-4B93-1FFB-E4C77FBB5014}"/>
              </a:ext>
            </a:extLst>
          </p:cNvPr>
          <p:cNvSpPr txBox="1"/>
          <p:nvPr/>
        </p:nvSpPr>
        <p:spPr>
          <a:xfrm>
            <a:off x="7851064" y="5478969"/>
            <a:ext cx="37124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badi" panose="020B0604020104020204" pitchFamily="34" charset="0"/>
              </a:rPr>
              <a:t>The dataset includes both demographic and job-related attributes</a:t>
            </a:r>
            <a:endParaRPr lang="en-IN" sz="1600" dirty="0">
              <a:latin typeface="Abadi" panose="020B06040201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56EB3-BB98-DBDD-9349-8375996BCA4B}"/>
              </a:ext>
            </a:extLst>
          </p:cNvPr>
          <p:cNvSpPr txBox="1"/>
          <p:nvPr/>
        </p:nvSpPr>
        <p:spPr>
          <a:xfrm>
            <a:off x="872854" y="4398967"/>
            <a:ext cx="1791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masis MT Pro Black" panose="02040A04050005020304" pitchFamily="18" charset="0"/>
              </a:rPr>
              <a:t>32 COLUMNS</a:t>
            </a:r>
            <a:endParaRPr lang="en-IN" sz="2000" dirty="0"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A409A-4868-503F-39EE-0EE0985E874B}"/>
              </a:ext>
            </a:extLst>
          </p:cNvPr>
          <p:cNvSpPr txBox="1"/>
          <p:nvPr/>
        </p:nvSpPr>
        <p:spPr>
          <a:xfrm>
            <a:off x="4769278" y="4406351"/>
            <a:ext cx="1155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masis MT Pro Black" panose="02040A04050005020304" pitchFamily="18" charset="0"/>
              </a:rPr>
              <a:t>2845 RAWS</a:t>
            </a:r>
            <a:endParaRPr lang="en-IN" sz="2000" dirty="0">
              <a:latin typeface="Amasis MT Pro Black" panose="02040A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48896-4F76-9981-D82F-E0DF87743F71}"/>
              </a:ext>
            </a:extLst>
          </p:cNvPr>
          <p:cNvSpPr txBox="1"/>
          <p:nvPr/>
        </p:nvSpPr>
        <p:spPr>
          <a:xfrm>
            <a:off x="2799508" y="1233970"/>
            <a:ext cx="18985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masis MT Pro Black" panose="02040A04050005020304" pitchFamily="18" charset="0"/>
              </a:rPr>
              <a:t>TAKEN FROM KAGGLE</a:t>
            </a:r>
            <a:endParaRPr lang="en-IN" sz="20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02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2766526" y="65314"/>
            <a:ext cx="6172201" cy="597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002060"/>
                </a:solidFill>
                <a:latin typeface="Rockwell Nova Extra Bold" panose="020F0502020204030204" pitchFamily="18" charset="0"/>
                <a:cs typeface="Segoe UI" panose="020B0502040204020203" pitchFamily="34" charset="0"/>
              </a:rPr>
              <a:t>DATA SET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993A4BF-7EA6-73FC-22F5-46E65BB63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2564"/>
            <a:ext cx="12192000" cy="62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6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DF65-FCE3-9DEE-AF85-71FE5D5F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52" hidden="1">
            <a:extLst>
              <a:ext uri="{FF2B5EF4-FFF2-40B4-BE49-F238E27FC236}">
                <a16:creationId xmlns:a16="http://schemas.microsoft.com/office/drawing/2014/main" id="{8DDD3454-E73C-1B5F-6E9E-4F36EBFC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BC2EF-24B3-7E8D-4648-09AA37F54C89}"/>
              </a:ext>
            </a:extLst>
          </p:cNvPr>
          <p:cNvSpPr txBox="1"/>
          <p:nvPr/>
        </p:nvSpPr>
        <p:spPr>
          <a:xfrm>
            <a:off x="1135323" y="165812"/>
            <a:ext cx="7340083" cy="10322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200" dirty="0"/>
              <a:t>DATA CLEANING AND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26543-67E5-15E0-D3BC-3B9D7DE35137}"/>
              </a:ext>
            </a:extLst>
          </p:cNvPr>
          <p:cNvSpPr txBox="1"/>
          <p:nvPr/>
        </p:nvSpPr>
        <p:spPr>
          <a:xfrm>
            <a:off x="726781" y="1800992"/>
            <a:ext cx="2883732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endParaRPr lang="en-US" b="1" dirty="0">
              <a:latin typeface="Segoe UI" panose="020B0502040204020203" pitchFamily="34" charset="0"/>
            </a:endParaRPr>
          </a:p>
        </p:txBody>
      </p:sp>
      <p:pic>
        <p:nvPicPr>
          <p:cNvPr id="163" name="Picture 162" descr="This image is of two sets of hands putting puzzle pieces together. ">
            <a:extLst>
              <a:ext uri="{FF2B5EF4-FFF2-40B4-BE49-F238E27FC236}">
                <a16:creationId xmlns:a16="http://schemas.microsoft.com/office/drawing/2014/main" id="{2346174C-2244-BB81-D91D-5064A6E205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224"/>
          <a:stretch/>
        </p:blipFill>
        <p:spPr>
          <a:xfrm>
            <a:off x="8344432" y="0"/>
            <a:ext cx="4643982" cy="6858000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E71D1F04-FCB6-5365-39D4-18984C390131}"/>
              </a:ext>
            </a:extLst>
          </p:cNvPr>
          <p:cNvSpPr txBox="1"/>
          <p:nvPr/>
        </p:nvSpPr>
        <p:spPr>
          <a:xfrm>
            <a:off x="279918" y="2220686"/>
            <a:ext cx="68020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Removed duplicate employee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Checked and handled missing or null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Converted categorical fields (Attrition, Gender) into readable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Created calculated fields: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Attrition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Attrition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Created age bins for age group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Ensured correct data types for numerical and categorical columns.</a:t>
            </a:r>
          </a:p>
        </p:txBody>
      </p:sp>
    </p:spTree>
    <p:extLst>
      <p:ext uri="{BB962C8B-B14F-4D97-AF65-F5344CB8AC3E}">
        <p14:creationId xmlns:p14="http://schemas.microsoft.com/office/powerpoint/2010/main" val="49280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8336C4B5-E15C-4086-8FF8-C33A0737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264A13-2CF6-4653-9A8E-AE29B6F25F8E}"/>
              </a:ext>
            </a:extLst>
          </p:cNvPr>
          <p:cNvSpPr txBox="1"/>
          <p:nvPr/>
        </p:nvSpPr>
        <p:spPr>
          <a:xfrm>
            <a:off x="2509653" y="97000"/>
            <a:ext cx="7578244" cy="14304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 AND TECHNOLOGIES USED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6D12FB3-2E0E-4392-B30A-8FABD559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2700" y="1794010"/>
            <a:ext cx="12204700" cy="2524432"/>
            <a:chOff x="-12700" y="2162908"/>
            <a:chExt cx="12204700" cy="2524432"/>
          </a:xfrm>
        </p:grpSpPr>
        <p:pic>
          <p:nvPicPr>
            <p:cNvPr id="2" name="Picture 1" descr="A group of people sitting at a desk&#10;">
              <a:extLst>
                <a:ext uri="{FF2B5EF4-FFF2-40B4-BE49-F238E27FC236}">
                  <a16:creationId xmlns:a16="http://schemas.microsoft.com/office/drawing/2014/main" id="{2D62790E-5C31-4474-BE12-F50234A0C7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4"/>
            <a:stretch/>
          </p:blipFill>
          <p:spPr>
            <a:xfrm>
              <a:off x="-12700" y="2162908"/>
              <a:ext cx="12192000" cy="2514601"/>
            </a:xfrm>
            <a:prstGeom prst="rect">
              <a:avLst/>
            </a:prstGeom>
          </p:spPr>
        </p:pic>
        <p:sp>
          <p:nvSpPr>
            <p:cNvPr id="3" name="Rectangle 2" descr="This is an image of a desk with laptop computers and people working.">
              <a:extLst>
                <a:ext uri="{FF2B5EF4-FFF2-40B4-BE49-F238E27FC236}">
                  <a16:creationId xmlns:a16="http://schemas.microsoft.com/office/drawing/2014/main" id="{53AEFB1F-87BB-40C6-9BC7-E1CE0AC0AC1B}"/>
                </a:ext>
              </a:extLst>
            </p:cNvPr>
            <p:cNvSpPr/>
            <p:nvPr/>
          </p:nvSpPr>
          <p:spPr>
            <a:xfrm>
              <a:off x="0" y="2172739"/>
              <a:ext cx="12192000" cy="2514601"/>
            </a:xfrm>
            <a:prstGeom prst="rect">
              <a:avLst/>
            </a:prstGeom>
            <a:gradFill>
              <a:gsLst>
                <a:gs pos="1000">
                  <a:srgbClr val="7CEFD8">
                    <a:alpha val="79000"/>
                  </a:srgbClr>
                </a:gs>
                <a:gs pos="61000">
                  <a:srgbClr val="6672E4">
                    <a:alpha val="84000"/>
                  </a:srgbClr>
                </a:gs>
                <a:gs pos="98000">
                  <a:srgbClr val="882BE5">
                    <a:alpha val="66000"/>
                  </a:srgbClr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CFBA714-94A9-4CEA-9D73-2E90A898B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1333" y="2694293"/>
              <a:ext cx="1738320" cy="1431827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EB48CA9-382A-48A4-B5F2-BBE91C08FD62}"/>
                </a:ext>
              </a:extLst>
            </p:cNvPr>
            <p:cNvSpPr/>
            <p:nvPr/>
          </p:nvSpPr>
          <p:spPr>
            <a:xfrm>
              <a:off x="1737814" y="3936470"/>
              <a:ext cx="239688" cy="239688"/>
            </a:xfrm>
            <a:prstGeom prst="ellipse">
              <a:avLst/>
            </a:prstGeom>
            <a:solidFill>
              <a:srgbClr val="8335E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20BBE89-8E4D-448A-8F53-F45437DD24BB}"/>
                </a:ext>
              </a:extLst>
            </p:cNvPr>
            <p:cNvSpPr/>
            <p:nvPr/>
          </p:nvSpPr>
          <p:spPr>
            <a:xfrm>
              <a:off x="1782422" y="3981078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02C732-8960-4820-B185-F087E030DAAA}"/>
                </a:ext>
              </a:extLst>
            </p:cNvPr>
            <p:cNvSpPr txBox="1"/>
            <p:nvPr/>
          </p:nvSpPr>
          <p:spPr>
            <a:xfrm>
              <a:off x="918112" y="3189004"/>
              <a:ext cx="1301255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KAGGLE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B02FFA3-53E3-4FFD-922C-CCB9EFEA5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45077" y="2719313"/>
              <a:ext cx="1431828" cy="1431826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B5F512-613A-44CC-ACE3-5B63ACC24F3F}"/>
                </a:ext>
              </a:extLst>
            </p:cNvPr>
            <p:cNvSpPr/>
            <p:nvPr/>
          </p:nvSpPr>
          <p:spPr>
            <a:xfrm>
              <a:off x="5016340" y="2881739"/>
              <a:ext cx="239688" cy="239688"/>
            </a:xfrm>
            <a:prstGeom prst="ellipse">
              <a:avLst/>
            </a:prstGeom>
            <a:solidFill>
              <a:srgbClr val="8335E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D030F3-5250-4104-9D3A-3BDB421469D0}"/>
                </a:ext>
              </a:extLst>
            </p:cNvPr>
            <p:cNvSpPr/>
            <p:nvPr/>
          </p:nvSpPr>
          <p:spPr>
            <a:xfrm>
              <a:off x="5060947" y="2926346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C8C601-FB40-4573-87B3-B1126A610542}"/>
                </a:ext>
              </a:extLst>
            </p:cNvPr>
            <p:cNvSpPr txBox="1"/>
            <p:nvPr/>
          </p:nvSpPr>
          <p:spPr>
            <a:xfrm>
              <a:off x="4075472" y="3189005"/>
              <a:ext cx="971036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EXCEL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AA6EBCD-B27A-4FC4-87A8-ED6638C5545A}"/>
                </a:ext>
              </a:extLst>
            </p:cNvPr>
            <p:cNvSpPr/>
            <p:nvPr/>
          </p:nvSpPr>
          <p:spPr>
            <a:xfrm>
              <a:off x="6798889" y="2719313"/>
              <a:ext cx="1921224" cy="1431826"/>
            </a:xfrm>
            <a:prstGeom prst="ellipse">
              <a:avLst/>
            </a:prstGeom>
            <a:solidFill>
              <a:schemeClr val="bg1">
                <a:alpha val="19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63F2913C-4436-40AC-9048-54405BD23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98890" y="2719313"/>
              <a:ext cx="1664391" cy="1431826"/>
            </a:xfrm>
            <a:prstGeom prst="arc">
              <a:avLst>
                <a:gd name="adj1" fmla="val 16200000"/>
                <a:gd name="adj2" fmla="val 755116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703755-0B67-41E7-B72A-5A3A54730479}"/>
                </a:ext>
              </a:extLst>
            </p:cNvPr>
            <p:cNvSpPr/>
            <p:nvPr/>
          </p:nvSpPr>
          <p:spPr>
            <a:xfrm>
              <a:off x="8110117" y="3485949"/>
              <a:ext cx="239688" cy="239688"/>
            </a:xfrm>
            <a:prstGeom prst="ellipse">
              <a:avLst/>
            </a:prstGeom>
            <a:solidFill>
              <a:srgbClr val="8335E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668F955-7C8C-4C69-AA19-CD562C2DFDCC}"/>
                </a:ext>
              </a:extLst>
            </p:cNvPr>
            <p:cNvSpPr/>
            <p:nvPr/>
          </p:nvSpPr>
          <p:spPr>
            <a:xfrm>
              <a:off x="8154725" y="3530557"/>
              <a:ext cx="150473" cy="150473"/>
            </a:xfrm>
            <a:prstGeom prst="ellipse">
              <a:avLst/>
            </a:prstGeom>
            <a:solidFill>
              <a:srgbClr val="833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436978-7B84-4F27-8A32-574050B29AD0}"/>
                </a:ext>
              </a:extLst>
            </p:cNvPr>
            <p:cNvSpPr txBox="1"/>
            <p:nvPr/>
          </p:nvSpPr>
          <p:spPr>
            <a:xfrm>
              <a:off x="6848404" y="3160278"/>
              <a:ext cx="1743293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TABLEAU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5E89B9B-4C47-402B-9C75-47765E1F7593}"/>
                </a:ext>
              </a:extLst>
            </p:cNvPr>
            <p:cNvGrpSpPr/>
            <p:nvPr/>
          </p:nvGrpSpPr>
          <p:grpSpPr>
            <a:xfrm>
              <a:off x="9871787" y="2706779"/>
              <a:ext cx="1548881" cy="1599637"/>
              <a:chOff x="7168468" y="2677815"/>
              <a:chExt cx="1548881" cy="159963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2C4BAC1-CFE0-4BB6-AB1E-3D97B9D3C37C}"/>
                  </a:ext>
                </a:extLst>
              </p:cNvPr>
              <p:cNvGrpSpPr/>
              <p:nvPr/>
            </p:nvGrpSpPr>
            <p:grpSpPr>
              <a:xfrm>
                <a:off x="7168468" y="2677815"/>
                <a:ext cx="1548881" cy="1599637"/>
                <a:chOff x="7168468" y="2677815"/>
                <a:chExt cx="1548881" cy="1599637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EBF013-87F7-4305-9CC9-737BE16F0D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168468" y="2702884"/>
                  <a:ext cx="1548881" cy="1574568"/>
                </a:xfrm>
                <a:prstGeom prst="ellipse">
                  <a:avLst/>
                </a:prstGeom>
                <a:solidFill>
                  <a:schemeClr val="bg1">
                    <a:alpha val="19000"/>
                  </a:schemeClr>
                </a:solidFill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Arc 53">
                  <a:extLst>
                    <a:ext uri="{FF2B5EF4-FFF2-40B4-BE49-F238E27FC236}">
                      <a16:creationId xmlns:a16="http://schemas.microsoft.com/office/drawing/2014/main" id="{2CC348C5-CD52-4041-A9DC-8F47C9D04352}"/>
                    </a:ext>
                  </a:extLst>
                </p:cNvPr>
                <p:cNvSpPr/>
                <p:nvPr/>
              </p:nvSpPr>
              <p:spPr>
                <a:xfrm>
                  <a:off x="7168469" y="2702884"/>
                  <a:ext cx="1431827" cy="1431826"/>
                </a:xfrm>
                <a:prstGeom prst="arc">
                  <a:avLst>
                    <a:gd name="adj1" fmla="val 16200000"/>
                    <a:gd name="adj2" fmla="val 17724961"/>
                  </a:avLst>
                </a:prstGeom>
                <a:ln w="38100">
                  <a:gradFill>
                    <a:gsLst>
                      <a:gs pos="0">
                        <a:srgbClr val="7BEBD8"/>
                      </a:gs>
                      <a:gs pos="8000">
                        <a:srgbClr val="6B8DE1"/>
                      </a:gs>
                      <a:gs pos="100000">
                        <a:srgbClr val="8335E5"/>
                      </a:gs>
                    </a:gsLst>
                    <a:lin ang="5400000" scaled="1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83CA45F-7535-4D5F-A010-B7B38ED57BC7}"/>
                    </a:ext>
                  </a:extLst>
                </p:cNvPr>
                <p:cNvSpPr/>
                <p:nvPr/>
              </p:nvSpPr>
              <p:spPr>
                <a:xfrm>
                  <a:off x="8095353" y="2677815"/>
                  <a:ext cx="239688" cy="239687"/>
                </a:xfrm>
                <a:prstGeom prst="ellipse">
                  <a:avLst/>
                </a:prstGeom>
                <a:solidFill>
                  <a:srgbClr val="8335E5">
                    <a:alpha val="3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43FCBFAE-6E88-440A-ACEC-41E289885112}"/>
                    </a:ext>
                  </a:extLst>
                </p:cNvPr>
                <p:cNvSpPr/>
                <p:nvPr/>
              </p:nvSpPr>
              <p:spPr>
                <a:xfrm>
                  <a:off x="8139961" y="2722422"/>
                  <a:ext cx="150473" cy="150473"/>
                </a:xfrm>
                <a:prstGeom prst="ellipse">
                  <a:avLst/>
                </a:prstGeom>
                <a:solidFill>
                  <a:srgbClr val="8335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F4B3FC-E555-4F37-BC12-4940EF773A7E}"/>
                  </a:ext>
                </a:extLst>
              </p:cNvPr>
              <p:cNvSpPr txBox="1"/>
              <p:nvPr/>
            </p:nvSpPr>
            <p:spPr>
              <a:xfrm>
                <a:off x="7269246" y="3160041"/>
                <a:ext cx="1230272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+mj-lt"/>
                  </a:rPr>
                  <a:t>POWER</a:t>
                </a:r>
              </a:p>
              <a:p>
                <a:pPr algn="ctr"/>
                <a:r>
                  <a:rPr lang="en-US" sz="3200" b="1" dirty="0">
                    <a:solidFill>
                      <a:schemeClr val="bg1"/>
                    </a:solidFill>
                    <a:latin typeface="+mj-lt"/>
                  </a:rPr>
                  <a:t>POINT</a:t>
                </a:r>
              </a:p>
            </p:txBody>
          </p:sp>
        </p:grp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CAE87D92-1F07-49DE-BFD7-F74BD728BD31}"/>
                </a:ext>
              </a:extLst>
            </p:cNvPr>
            <p:cNvSpPr/>
            <p:nvPr/>
          </p:nvSpPr>
          <p:spPr>
            <a:xfrm>
              <a:off x="3843489" y="2720981"/>
              <a:ext cx="1431827" cy="1431826"/>
            </a:xfrm>
            <a:prstGeom prst="arc">
              <a:avLst>
                <a:gd name="adj1" fmla="val 16200000"/>
                <a:gd name="adj2" fmla="val 19003948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45B3FF71-3684-4143-BA68-D4583307C956}"/>
                </a:ext>
              </a:extLst>
            </p:cNvPr>
            <p:cNvSpPr/>
            <p:nvPr/>
          </p:nvSpPr>
          <p:spPr>
            <a:xfrm>
              <a:off x="852826" y="2694293"/>
              <a:ext cx="1656827" cy="1431826"/>
            </a:xfrm>
            <a:prstGeom prst="arc">
              <a:avLst>
                <a:gd name="adj1" fmla="val 16200000"/>
                <a:gd name="adj2" fmla="val 3850353"/>
              </a:avLst>
            </a:prstGeom>
            <a:ln w="38100">
              <a:gradFill>
                <a:gsLst>
                  <a:gs pos="0">
                    <a:srgbClr val="7BEBD8"/>
                  </a:gs>
                  <a:gs pos="8000">
                    <a:srgbClr val="6B8DE1"/>
                  </a:gs>
                  <a:gs pos="100000">
                    <a:srgbClr val="8335E5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9929E06-4AB9-4598-A963-82CCC18A3FF2}"/>
              </a:ext>
            </a:extLst>
          </p:cNvPr>
          <p:cNvSpPr txBox="1"/>
          <p:nvPr/>
        </p:nvSpPr>
        <p:spPr>
          <a:xfrm>
            <a:off x="346003" y="4841786"/>
            <a:ext cx="244547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 VISUALIZATION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58B9C9-A63C-4AE4-8EB4-544F3A70C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29338" y="5277685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DF162EE-A4BE-4D4C-9A3C-51FC2F765D81}"/>
              </a:ext>
            </a:extLst>
          </p:cNvPr>
          <p:cNvSpPr txBox="1">
            <a:spLocks/>
          </p:cNvSpPr>
          <p:nvPr/>
        </p:nvSpPr>
        <p:spPr>
          <a:xfrm>
            <a:off x="241881" y="5454662"/>
            <a:ext cx="2653720" cy="323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754C1-4097-4CDA-B3CB-7304331CBBB9}"/>
              </a:ext>
            </a:extLst>
          </p:cNvPr>
          <p:cNvSpPr txBox="1"/>
          <p:nvPr/>
        </p:nvSpPr>
        <p:spPr>
          <a:xfrm>
            <a:off x="3356690" y="4841787"/>
            <a:ext cx="240860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AGGREGATIONS AND </a:t>
            </a:r>
          </a:p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FILTERS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30765C-622F-4015-90C6-297DE00BB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87515" y="5454662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2AC3065-20B0-4A63-89FA-B10AD6D1363C}"/>
              </a:ext>
            </a:extLst>
          </p:cNvPr>
          <p:cNvSpPr txBox="1">
            <a:spLocks/>
          </p:cNvSpPr>
          <p:nvPr/>
        </p:nvSpPr>
        <p:spPr>
          <a:xfrm>
            <a:off x="3234132" y="5454663"/>
            <a:ext cx="2653720" cy="323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000" indent="-23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005B0B-E5FC-472B-962B-C2258039F3B2}"/>
              </a:ext>
            </a:extLst>
          </p:cNvPr>
          <p:cNvSpPr txBox="1"/>
          <p:nvPr/>
        </p:nvSpPr>
        <p:spPr>
          <a:xfrm>
            <a:off x="6428588" y="4841787"/>
            <a:ext cx="22915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CALCULATED FIELDS 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81AB32-AC63-443B-8ADA-AAB7C9723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34945" y="5277686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B6FBDF-4663-4A5D-A2B3-B90DCEBBA233}"/>
              </a:ext>
            </a:extLst>
          </p:cNvPr>
          <p:cNvSpPr txBox="1"/>
          <p:nvPr/>
        </p:nvSpPr>
        <p:spPr>
          <a:xfrm>
            <a:off x="9078862" y="4841787"/>
            <a:ext cx="30176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INTERACTIVE DASHBOARD 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8F561C8-B2FA-4D2D-9122-39870DF54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0348300" y="5277686"/>
            <a:ext cx="47880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76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6AF7FE-5978-4B5F-90E1-044AC25EC230}"/>
              </a:ext>
            </a:extLst>
          </p:cNvPr>
          <p:cNvSpPr txBox="1"/>
          <p:nvPr/>
        </p:nvSpPr>
        <p:spPr>
          <a:xfrm>
            <a:off x="4293847" y="326226"/>
            <a:ext cx="5452529" cy="3569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Title 52" hidden="1">
            <a:extLst>
              <a:ext uri="{FF2B5EF4-FFF2-40B4-BE49-F238E27FC236}">
                <a16:creationId xmlns:a16="http://schemas.microsoft.com/office/drawing/2014/main" id="{6BCAF586-A14B-4A3B-A249-655ADDBB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8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1981E54-84C3-E91E-6393-38E9538F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" y="0"/>
            <a:ext cx="12178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96665-3BF5-6DF7-DA9F-A53C36A8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27B3F3BE-09BF-0466-8410-FDC141E7A1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76E708-89C5-C5C5-43C0-8EAAAA7A6C7C}"/>
              </a:ext>
            </a:extLst>
          </p:cNvPr>
          <p:cNvSpPr txBox="1"/>
          <p:nvPr/>
        </p:nvSpPr>
        <p:spPr>
          <a:xfrm>
            <a:off x="4293847" y="326226"/>
            <a:ext cx="5452529" cy="3569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Title 52" hidden="1">
            <a:extLst>
              <a:ext uri="{FF2B5EF4-FFF2-40B4-BE49-F238E27FC236}">
                <a16:creationId xmlns:a16="http://schemas.microsoft.com/office/drawing/2014/main" id="{B34E0833-A12D-C326-97C9-99809078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resources slide 8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E3587-3B8B-2970-79E7-42DD8262DC7C}"/>
              </a:ext>
            </a:extLst>
          </p:cNvPr>
          <p:cNvSpPr txBox="1"/>
          <p:nvPr/>
        </p:nvSpPr>
        <p:spPr>
          <a:xfrm>
            <a:off x="3439865" y="86391"/>
            <a:ext cx="53122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highlight>
                  <a:srgbClr val="800080"/>
                </a:highlight>
                <a:latin typeface="Algerian" panose="04020705040A02060702" pitchFamily="82" charset="0"/>
              </a:rPr>
              <a:t>DASHBOARD SUMMARY</a:t>
            </a:r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8D356C-D8C7-D6DB-793B-7FDD88A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561" y="1877963"/>
            <a:ext cx="587050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Total Employees: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2,845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ptos Slab ExtraBold" panose="020F050202020403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Attrition Count: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387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ptos Slab ExtraBold" panose="020F050202020403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Income varies significantly across job roles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Attrition Rate: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13.60%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ptos Slab ExtraBold" panose="020F050202020403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Average Employee Age: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49 years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ptos Slab ExtraBold" panose="020F050202020403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ptos Slab ExtraBold" panose="020F0502020204030204" pitchFamily="34" charset="0"/>
              </a:rPr>
              <a:t>Production department has the highest employee count.</a:t>
            </a:r>
          </a:p>
        </p:txBody>
      </p:sp>
    </p:spTree>
    <p:extLst>
      <p:ext uri="{BB962C8B-B14F-4D97-AF65-F5344CB8AC3E}">
        <p14:creationId xmlns:p14="http://schemas.microsoft.com/office/powerpoint/2010/main" val="3138901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369BDDB6-A69A-415D-B73D-D630C736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4269387" y="0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74FAF-1757-48A8-BBFB-722E8E1D6FA4}"/>
              </a:ext>
            </a:extLst>
          </p:cNvPr>
          <p:cNvSpPr/>
          <p:nvPr/>
        </p:nvSpPr>
        <p:spPr>
          <a:xfrm>
            <a:off x="424382" y="667120"/>
            <a:ext cx="10028903" cy="60016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 lang="en-US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b="1" u="sng" dirty="0"/>
              <a:t>Insight 1: Department-wise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 department has the </a:t>
            </a:r>
            <a:r>
              <a:rPr lang="en-US" b="1" dirty="0"/>
              <a:t>highest number of employees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IT/IS and Sales show </a:t>
            </a:r>
            <a:r>
              <a:rPr lang="en-US" b="1" dirty="0"/>
              <a:t>moderate employee strength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Insight 2: Attrition by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Attrition is </a:t>
            </a:r>
            <a:r>
              <a:rPr lang="en-US" b="1" dirty="0"/>
              <a:t>higher among male employees</a:t>
            </a:r>
            <a:r>
              <a:rPr lang="en-US" dirty="0"/>
              <a:t> compared to female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Insight 3: Attrition by 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attrition observed in </a:t>
            </a:r>
            <a:r>
              <a:rPr lang="en-US" b="1" dirty="0"/>
              <a:t>mid-age groups (25–40)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attrition among very young and senior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Insight 4: Satisfaction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Employees with </a:t>
            </a:r>
            <a:r>
              <a:rPr lang="en-US" b="1" dirty="0"/>
              <a:t>lower satisfaction scores</a:t>
            </a:r>
            <a:r>
              <a:rPr lang="en-US" dirty="0"/>
              <a:t> show higher attrition.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Attrition decreases as satisfaction score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Insight 5: Monthly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 and IT roles contribute most to total 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and Software Engineering roles have comparatively lower income  contribution.</a:t>
            </a:r>
          </a:p>
          <a:p>
            <a:endParaRPr lang="en-US" sz="1600" dirty="0"/>
          </a:p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US" sz="1600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1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9AAD-6759-B731-7992-1C8B7439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00B1C374-3F1C-EF30-FF00-9C889922D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D39EE-7101-3728-EF2B-8E36691C14A6}"/>
              </a:ext>
            </a:extLst>
          </p:cNvPr>
          <p:cNvSpPr txBox="1"/>
          <p:nvPr/>
        </p:nvSpPr>
        <p:spPr>
          <a:xfrm>
            <a:off x="3758109" y="-95041"/>
            <a:ext cx="548421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4DA53-7770-0AD9-310E-FD24AE0E7121}"/>
              </a:ext>
            </a:extLst>
          </p:cNvPr>
          <p:cNvSpPr/>
          <p:nvPr/>
        </p:nvSpPr>
        <p:spPr>
          <a:xfrm>
            <a:off x="394885" y="1227559"/>
            <a:ext cx="10028903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 lang="en-US" sz="1600" dirty="0"/>
          </a:p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US" sz="1600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B11F0C-C141-C8D8-6505-0C620FAE9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511" y="1352348"/>
            <a:ext cx="804278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Attrition rate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13.6%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 indicates a need for focused HR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Employee satisfaction plays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key role in retention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Departments with high attrition need targeted engagement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The dashboard enables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data-driven HR decision-making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7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10</a:t>
            </a:r>
          </a:p>
        </p:txBody>
      </p:sp>
      <p:grpSp>
        <p:nvGrpSpPr>
          <p:cNvPr id="5" name="Group 4" descr="This image is an icon of three human being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reeform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8" name="Freeform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9" name="Freeform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0" name="Freeform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1" name="Freeform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824361" y="2096935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74FAF-1757-48A8-BBFB-722E8E1D6FA4}"/>
              </a:ext>
            </a:extLst>
          </p:cNvPr>
          <p:cNvSpPr/>
          <p:nvPr/>
        </p:nvSpPr>
        <p:spPr>
          <a:xfrm>
            <a:off x="733192" y="5358396"/>
            <a:ext cx="35361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latin typeface="+mj-lt"/>
              </a:rPr>
              <a:t> </a:t>
            </a:r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23" name="Group 22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516AB37-D7B9-4507-B21E-5D459905C6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A17EA8-7A9B-4350-B9C2-AA100F76C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40622C-5D03-4258-98D9-CB4F18C7FA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199</TotalTime>
  <Words>490</Words>
  <Application>Microsoft Office PowerPoint</Application>
  <PresentationFormat>Widescreen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Abadi</vt:lpstr>
      <vt:lpstr>Algerian</vt:lpstr>
      <vt:lpstr>Amasis MT Pro Black</vt:lpstr>
      <vt:lpstr>Aptos Slab ExtraBold</vt:lpstr>
      <vt:lpstr>Arial</vt:lpstr>
      <vt:lpstr>Calibri</vt:lpstr>
      <vt:lpstr>Century Gothic</vt:lpstr>
      <vt:lpstr>Rockwell Nova Extra Bold</vt:lpstr>
      <vt:lpstr>Segoe UI</vt:lpstr>
      <vt:lpstr>Gallery</vt:lpstr>
      <vt:lpstr>Human resources slide 1</vt:lpstr>
      <vt:lpstr>Human resources slide 2</vt:lpstr>
      <vt:lpstr>Human resources slide 4</vt:lpstr>
      <vt:lpstr>Human resources slide 5</vt:lpstr>
      <vt:lpstr>Human resources slide 6</vt:lpstr>
      <vt:lpstr>Human resources slide 8</vt:lpstr>
      <vt:lpstr>Human resources slide 7</vt:lpstr>
      <vt:lpstr>Human resources slide 8</vt:lpstr>
      <vt:lpstr>Human resources slide 8</vt:lpstr>
      <vt:lpstr>Human resources slide 11</vt:lpstr>
      <vt:lpstr>Human resources slide 11</vt:lpstr>
      <vt:lpstr>Human resources 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hisanhizz2003@gmail.com</dc:creator>
  <cp:lastModifiedBy>hisanhizz2003@gmail.com</cp:lastModifiedBy>
  <cp:revision>2</cp:revision>
  <dcterms:created xsi:type="dcterms:W3CDTF">2025-12-20T06:37:43Z</dcterms:created>
  <dcterms:modified xsi:type="dcterms:W3CDTF">2026-05-13T05:59:27Z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